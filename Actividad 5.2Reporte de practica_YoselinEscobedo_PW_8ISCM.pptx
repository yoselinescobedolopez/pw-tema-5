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7"/>
  </p:notesMasterIdLst>
  <p:sldIdLst>
    <p:sldId id="262" r:id="rId3"/>
    <p:sldId id="273" r:id="rId4"/>
    <p:sldId id="275" r:id="rId5"/>
    <p:sldId id="265" r:id="rId6"/>
    <p:sldId id="256" r:id="rId7"/>
    <p:sldId id="285" r:id="rId8"/>
    <p:sldId id="286" r:id="rId9"/>
    <p:sldId id="287" r:id="rId10"/>
    <p:sldId id="288" r:id="rId11"/>
    <p:sldId id="289" r:id="rId12"/>
    <p:sldId id="290" r:id="rId13"/>
    <p:sldId id="291" r:id="rId14"/>
    <p:sldId id="280" r:id="rId15"/>
    <p:sldId id="292" r:id="rId16"/>
    <p:sldId id="257" r:id="rId17"/>
    <p:sldId id="276" r:id="rId18"/>
    <p:sldId id="277" r:id="rId19"/>
    <p:sldId id="278" r:id="rId20"/>
    <p:sldId id="293" r:id="rId21"/>
    <p:sldId id="294" r:id="rId22"/>
    <p:sldId id="295" r:id="rId23"/>
    <p:sldId id="284" r:id="rId24"/>
    <p:sldId id="264" r:id="rId25"/>
    <p:sldId id="296" r:id="rId26"/>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1" d="100"/>
          <a:sy n="71" d="100"/>
        </p:scale>
        <p:origin x="69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0ECA8B-AAB0-428D-BCFC-BE9A649E3CE4}" type="datetimeFigureOut">
              <a:rPr lang="es-MX" smtClean="0"/>
              <a:t>15/06/2026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EF54F9-83F7-4D50-B4E6-6B6575DBF370}" type="slidenum">
              <a:rPr lang="es-MX" smtClean="0"/>
              <a:t>‹Nº›</a:t>
            </a:fld>
            <a:endParaRPr lang="es-MX"/>
          </a:p>
        </p:txBody>
      </p:sp>
    </p:spTree>
    <p:extLst>
      <p:ext uri="{BB962C8B-B14F-4D97-AF65-F5344CB8AC3E}">
        <p14:creationId xmlns:p14="http://schemas.microsoft.com/office/powerpoint/2010/main" val="12490925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B1E7CB8-03D8-43B4-8C9D-D9E28618D5F8}"/>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BE955021-30ED-4E0B-B687-30C6DAB6B27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C2F72F0D-BA28-4D81-B9C4-0A08BAAFFBDE}"/>
              </a:ext>
            </a:extLst>
          </p:cNvPr>
          <p:cNvSpPr>
            <a:spLocks noGrp="1"/>
          </p:cNvSpPr>
          <p:nvPr>
            <p:ph type="dt" sz="half" idx="10"/>
          </p:nvPr>
        </p:nvSpPr>
        <p:spPr/>
        <p:txBody>
          <a:bodyPr/>
          <a:lstStyle/>
          <a:p>
            <a:fld id="{E14B537E-B39D-4427-A890-3F8B973B0B77}" type="datetime1">
              <a:rPr lang="es-MX" smtClean="0"/>
              <a:t>15/06/2026</a:t>
            </a:fld>
            <a:endParaRPr lang="es-MX"/>
          </a:p>
        </p:txBody>
      </p:sp>
      <p:sp>
        <p:nvSpPr>
          <p:cNvPr id="5" name="Marcador de pie de página 4">
            <a:extLst>
              <a:ext uri="{FF2B5EF4-FFF2-40B4-BE49-F238E27FC236}">
                <a16:creationId xmlns:a16="http://schemas.microsoft.com/office/drawing/2014/main" id="{001D97DE-2F57-495C-A604-D2384FF4E62B}"/>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B4BBBB5-9E2A-4296-9E4A-0F55C04C9A7C}"/>
              </a:ext>
            </a:extLst>
          </p:cNvPr>
          <p:cNvSpPr>
            <a:spLocks noGrp="1"/>
          </p:cNvSpPr>
          <p:nvPr>
            <p:ph type="sldNum" sz="quarter" idx="12"/>
          </p:nvPr>
        </p:nvSpPr>
        <p:spPr/>
        <p:txBody>
          <a:bodyPr/>
          <a:lstStyle/>
          <a:p>
            <a:fld id="{90A5DFEB-E07E-4B57-AD4A-E6E5A3B83734}" type="slidenum">
              <a:rPr lang="es-MX" smtClean="0"/>
              <a:t>‹Nº›</a:t>
            </a:fld>
            <a:endParaRPr lang="es-MX"/>
          </a:p>
        </p:txBody>
      </p:sp>
    </p:spTree>
    <p:extLst>
      <p:ext uri="{BB962C8B-B14F-4D97-AF65-F5344CB8AC3E}">
        <p14:creationId xmlns:p14="http://schemas.microsoft.com/office/powerpoint/2010/main" val="39073607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921A5F-9D76-4213-AE18-9F9057E74BAD}"/>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2A4E914A-9E68-4E87-A88A-4FE5C08C893B}"/>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1AE6B45F-350C-4200-821D-678BB1E42C05}"/>
              </a:ext>
            </a:extLst>
          </p:cNvPr>
          <p:cNvSpPr>
            <a:spLocks noGrp="1"/>
          </p:cNvSpPr>
          <p:nvPr>
            <p:ph type="dt" sz="half" idx="10"/>
          </p:nvPr>
        </p:nvSpPr>
        <p:spPr/>
        <p:txBody>
          <a:bodyPr/>
          <a:lstStyle/>
          <a:p>
            <a:fld id="{219C674B-F136-4572-AF79-42159E60014E}" type="datetime1">
              <a:rPr lang="es-MX" smtClean="0"/>
              <a:t>15/06/2026</a:t>
            </a:fld>
            <a:endParaRPr lang="es-MX"/>
          </a:p>
        </p:txBody>
      </p:sp>
      <p:sp>
        <p:nvSpPr>
          <p:cNvPr id="5" name="Marcador de pie de página 4">
            <a:extLst>
              <a:ext uri="{FF2B5EF4-FFF2-40B4-BE49-F238E27FC236}">
                <a16:creationId xmlns:a16="http://schemas.microsoft.com/office/drawing/2014/main" id="{6E5D498D-8093-4338-8BA7-D0E24E377E9D}"/>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2448245D-74C8-4E78-A5AC-50F0F34753BC}"/>
              </a:ext>
            </a:extLst>
          </p:cNvPr>
          <p:cNvSpPr>
            <a:spLocks noGrp="1"/>
          </p:cNvSpPr>
          <p:nvPr>
            <p:ph type="sldNum" sz="quarter" idx="12"/>
          </p:nvPr>
        </p:nvSpPr>
        <p:spPr/>
        <p:txBody>
          <a:bodyPr/>
          <a:lstStyle/>
          <a:p>
            <a:fld id="{90A5DFEB-E07E-4B57-AD4A-E6E5A3B83734}" type="slidenum">
              <a:rPr lang="es-MX" smtClean="0"/>
              <a:t>‹Nº›</a:t>
            </a:fld>
            <a:endParaRPr lang="es-MX"/>
          </a:p>
        </p:txBody>
      </p:sp>
    </p:spTree>
    <p:extLst>
      <p:ext uri="{BB962C8B-B14F-4D97-AF65-F5344CB8AC3E}">
        <p14:creationId xmlns:p14="http://schemas.microsoft.com/office/powerpoint/2010/main" val="36395818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CC8F2F-C27C-4845-87D4-03E93D24E8D2}"/>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B9B9E0DB-E453-4044-8F21-F5716C9107A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D328BCDA-C318-4365-B21E-6F0EF34C3425}"/>
              </a:ext>
            </a:extLst>
          </p:cNvPr>
          <p:cNvSpPr>
            <a:spLocks noGrp="1"/>
          </p:cNvSpPr>
          <p:nvPr>
            <p:ph type="dt" sz="half" idx="10"/>
          </p:nvPr>
        </p:nvSpPr>
        <p:spPr/>
        <p:txBody>
          <a:bodyPr/>
          <a:lstStyle/>
          <a:p>
            <a:fld id="{7291FA42-EF22-4087-9D68-2CCC427E1B8D}" type="datetime1">
              <a:rPr lang="es-MX" smtClean="0"/>
              <a:t>15/06/2026</a:t>
            </a:fld>
            <a:endParaRPr lang="es-MX"/>
          </a:p>
        </p:txBody>
      </p:sp>
      <p:sp>
        <p:nvSpPr>
          <p:cNvPr id="5" name="Marcador de pie de página 4">
            <a:extLst>
              <a:ext uri="{FF2B5EF4-FFF2-40B4-BE49-F238E27FC236}">
                <a16:creationId xmlns:a16="http://schemas.microsoft.com/office/drawing/2014/main" id="{E5A5DE3A-9028-4031-8282-7FED4F84506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AC88B76D-E822-47FA-B0FB-D55046E2BFA2}"/>
              </a:ext>
            </a:extLst>
          </p:cNvPr>
          <p:cNvSpPr>
            <a:spLocks noGrp="1"/>
          </p:cNvSpPr>
          <p:nvPr>
            <p:ph type="sldNum" sz="quarter" idx="12"/>
          </p:nvPr>
        </p:nvSpPr>
        <p:spPr/>
        <p:txBody>
          <a:bodyPr/>
          <a:lstStyle/>
          <a:p>
            <a:fld id="{90A5DFEB-E07E-4B57-AD4A-E6E5A3B83734}" type="slidenum">
              <a:rPr lang="es-MX" smtClean="0"/>
              <a:t>‹Nº›</a:t>
            </a:fld>
            <a:endParaRPr lang="es-MX"/>
          </a:p>
        </p:txBody>
      </p:sp>
    </p:spTree>
    <p:extLst>
      <p:ext uri="{BB962C8B-B14F-4D97-AF65-F5344CB8AC3E}">
        <p14:creationId xmlns:p14="http://schemas.microsoft.com/office/powerpoint/2010/main" val="25759500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17157E-DFCB-44A8-B6B3-EC701845C0C6}"/>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78DB0507-BE0B-46D4-A4B9-F59806FFE8DD}"/>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B6AA8194-516E-42E7-A10E-37C99460F86C}"/>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D5EB51F2-054E-41DB-8B46-ED8B9EB76318}"/>
              </a:ext>
            </a:extLst>
          </p:cNvPr>
          <p:cNvSpPr>
            <a:spLocks noGrp="1"/>
          </p:cNvSpPr>
          <p:nvPr>
            <p:ph type="dt" sz="half" idx="10"/>
          </p:nvPr>
        </p:nvSpPr>
        <p:spPr/>
        <p:txBody>
          <a:bodyPr/>
          <a:lstStyle/>
          <a:p>
            <a:fld id="{C7C65C5F-055C-49A2-BAD7-3467F05F5140}" type="datetime1">
              <a:rPr lang="es-MX" smtClean="0"/>
              <a:t>15/06/2026</a:t>
            </a:fld>
            <a:endParaRPr lang="es-MX"/>
          </a:p>
        </p:txBody>
      </p:sp>
      <p:sp>
        <p:nvSpPr>
          <p:cNvPr id="6" name="Marcador de pie de página 5">
            <a:extLst>
              <a:ext uri="{FF2B5EF4-FFF2-40B4-BE49-F238E27FC236}">
                <a16:creationId xmlns:a16="http://schemas.microsoft.com/office/drawing/2014/main" id="{D4AE5FD9-795E-466B-9633-471083CBB6B5}"/>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EFEC56F5-98F4-4249-849C-7EFEADC935B3}"/>
              </a:ext>
            </a:extLst>
          </p:cNvPr>
          <p:cNvSpPr>
            <a:spLocks noGrp="1"/>
          </p:cNvSpPr>
          <p:nvPr>
            <p:ph type="sldNum" sz="quarter" idx="12"/>
          </p:nvPr>
        </p:nvSpPr>
        <p:spPr/>
        <p:txBody>
          <a:bodyPr/>
          <a:lstStyle/>
          <a:p>
            <a:fld id="{90A5DFEB-E07E-4B57-AD4A-E6E5A3B83734}" type="slidenum">
              <a:rPr lang="es-MX" smtClean="0"/>
              <a:t>‹Nº›</a:t>
            </a:fld>
            <a:endParaRPr lang="es-MX"/>
          </a:p>
        </p:txBody>
      </p:sp>
    </p:spTree>
    <p:extLst>
      <p:ext uri="{BB962C8B-B14F-4D97-AF65-F5344CB8AC3E}">
        <p14:creationId xmlns:p14="http://schemas.microsoft.com/office/powerpoint/2010/main" val="3126964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FF77C5-3EA2-4F14-B986-79E82FA9FCED}"/>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B7887810-472A-4C3E-B7BC-45AF336151C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C8321694-1627-4598-9BAD-4B77FEB7CF48}"/>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4EBA5A8F-3657-448E-8DA4-E0B9CE63B82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D72897E2-F2C6-4B00-B6F0-75466ED48B62}"/>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0CBAF020-58D6-4A76-ACB8-FBF23E999521}"/>
              </a:ext>
            </a:extLst>
          </p:cNvPr>
          <p:cNvSpPr>
            <a:spLocks noGrp="1"/>
          </p:cNvSpPr>
          <p:nvPr>
            <p:ph type="dt" sz="half" idx="10"/>
          </p:nvPr>
        </p:nvSpPr>
        <p:spPr/>
        <p:txBody>
          <a:bodyPr/>
          <a:lstStyle/>
          <a:p>
            <a:fld id="{DD1D2DFC-4CC7-4D74-9450-23E75288A023}" type="datetime1">
              <a:rPr lang="es-MX" smtClean="0"/>
              <a:t>15/06/2026</a:t>
            </a:fld>
            <a:endParaRPr lang="es-MX"/>
          </a:p>
        </p:txBody>
      </p:sp>
      <p:sp>
        <p:nvSpPr>
          <p:cNvPr id="8" name="Marcador de pie de página 7">
            <a:extLst>
              <a:ext uri="{FF2B5EF4-FFF2-40B4-BE49-F238E27FC236}">
                <a16:creationId xmlns:a16="http://schemas.microsoft.com/office/drawing/2014/main" id="{D28C3538-E128-44DB-B465-CB8548761276}"/>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391373A6-42F7-4A5A-8A19-5CCCE542E8B3}"/>
              </a:ext>
            </a:extLst>
          </p:cNvPr>
          <p:cNvSpPr>
            <a:spLocks noGrp="1"/>
          </p:cNvSpPr>
          <p:nvPr>
            <p:ph type="sldNum" sz="quarter" idx="12"/>
          </p:nvPr>
        </p:nvSpPr>
        <p:spPr/>
        <p:txBody>
          <a:bodyPr/>
          <a:lstStyle/>
          <a:p>
            <a:fld id="{90A5DFEB-E07E-4B57-AD4A-E6E5A3B83734}" type="slidenum">
              <a:rPr lang="es-MX" smtClean="0"/>
              <a:t>‹Nº›</a:t>
            </a:fld>
            <a:endParaRPr lang="es-MX"/>
          </a:p>
        </p:txBody>
      </p:sp>
    </p:spTree>
    <p:extLst>
      <p:ext uri="{BB962C8B-B14F-4D97-AF65-F5344CB8AC3E}">
        <p14:creationId xmlns:p14="http://schemas.microsoft.com/office/powerpoint/2010/main" val="9127468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5FC35A-B853-4EE4-8ECE-D78D402880E9}"/>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FA674D59-AD07-466F-90BC-BEDC6B4D9486}"/>
              </a:ext>
            </a:extLst>
          </p:cNvPr>
          <p:cNvSpPr>
            <a:spLocks noGrp="1"/>
          </p:cNvSpPr>
          <p:nvPr>
            <p:ph type="dt" sz="half" idx="10"/>
          </p:nvPr>
        </p:nvSpPr>
        <p:spPr/>
        <p:txBody>
          <a:bodyPr/>
          <a:lstStyle/>
          <a:p>
            <a:fld id="{A9FC013D-2796-4893-9007-ED0E1FF4EF2A}" type="datetime1">
              <a:rPr lang="es-MX" smtClean="0"/>
              <a:t>15/06/2026</a:t>
            </a:fld>
            <a:endParaRPr lang="es-MX"/>
          </a:p>
        </p:txBody>
      </p:sp>
      <p:sp>
        <p:nvSpPr>
          <p:cNvPr id="4" name="Marcador de pie de página 3">
            <a:extLst>
              <a:ext uri="{FF2B5EF4-FFF2-40B4-BE49-F238E27FC236}">
                <a16:creationId xmlns:a16="http://schemas.microsoft.com/office/drawing/2014/main" id="{3D351F91-2B06-4A8D-AF1F-599A751AD3D8}"/>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66FF9EEE-8762-4E07-B617-E3D194129EEC}"/>
              </a:ext>
            </a:extLst>
          </p:cNvPr>
          <p:cNvSpPr>
            <a:spLocks noGrp="1"/>
          </p:cNvSpPr>
          <p:nvPr>
            <p:ph type="sldNum" sz="quarter" idx="12"/>
          </p:nvPr>
        </p:nvSpPr>
        <p:spPr/>
        <p:txBody>
          <a:bodyPr/>
          <a:lstStyle/>
          <a:p>
            <a:fld id="{90A5DFEB-E07E-4B57-AD4A-E6E5A3B83734}" type="slidenum">
              <a:rPr lang="es-MX" smtClean="0"/>
              <a:t>‹Nº›</a:t>
            </a:fld>
            <a:endParaRPr lang="es-MX"/>
          </a:p>
        </p:txBody>
      </p:sp>
    </p:spTree>
    <p:extLst>
      <p:ext uri="{BB962C8B-B14F-4D97-AF65-F5344CB8AC3E}">
        <p14:creationId xmlns:p14="http://schemas.microsoft.com/office/powerpoint/2010/main" val="10295420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90E1B190-7F3B-4789-938C-9C997B7171D7}"/>
              </a:ext>
            </a:extLst>
          </p:cNvPr>
          <p:cNvSpPr>
            <a:spLocks noGrp="1"/>
          </p:cNvSpPr>
          <p:nvPr>
            <p:ph type="dt" sz="half" idx="10"/>
          </p:nvPr>
        </p:nvSpPr>
        <p:spPr/>
        <p:txBody>
          <a:bodyPr/>
          <a:lstStyle/>
          <a:p>
            <a:fld id="{46757A3B-3841-4140-86B1-9D8E15DF119B}" type="datetime1">
              <a:rPr lang="es-MX" smtClean="0"/>
              <a:t>15/06/2026</a:t>
            </a:fld>
            <a:endParaRPr lang="es-MX"/>
          </a:p>
        </p:txBody>
      </p:sp>
      <p:sp>
        <p:nvSpPr>
          <p:cNvPr id="3" name="Marcador de pie de página 2">
            <a:extLst>
              <a:ext uri="{FF2B5EF4-FFF2-40B4-BE49-F238E27FC236}">
                <a16:creationId xmlns:a16="http://schemas.microsoft.com/office/drawing/2014/main" id="{67E892DA-36A2-4D6C-8CF4-EDE08E8E3BDA}"/>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A45773EC-BE4A-4123-B04B-2C5894D6A179}"/>
              </a:ext>
            </a:extLst>
          </p:cNvPr>
          <p:cNvSpPr>
            <a:spLocks noGrp="1"/>
          </p:cNvSpPr>
          <p:nvPr>
            <p:ph type="sldNum" sz="quarter" idx="12"/>
          </p:nvPr>
        </p:nvSpPr>
        <p:spPr/>
        <p:txBody>
          <a:bodyPr/>
          <a:lstStyle/>
          <a:p>
            <a:fld id="{90A5DFEB-E07E-4B57-AD4A-E6E5A3B83734}" type="slidenum">
              <a:rPr lang="es-MX" smtClean="0"/>
              <a:t>‹Nº›</a:t>
            </a:fld>
            <a:endParaRPr lang="es-MX"/>
          </a:p>
        </p:txBody>
      </p:sp>
    </p:spTree>
    <p:extLst>
      <p:ext uri="{BB962C8B-B14F-4D97-AF65-F5344CB8AC3E}">
        <p14:creationId xmlns:p14="http://schemas.microsoft.com/office/powerpoint/2010/main" val="3478086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CF2632-81D6-4954-9B71-9417E358B7C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DA35207E-BBDF-40D8-8593-0CBF22B1B43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8D799F19-7711-4372-9FAF-E2802914FC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46BC65FF-1836-4A77-8D8F-7BEC47E05A6B}"/>
              </a:ext>
            </a:extLst>
          </p:cNvPr>
          <p:cNvSpPr>
            <a:spLocks noGrp="1"/>
          </p:cNvSpPr>
          <p:nvPr>
            <p:ph type="dt" sz="half" idx="10"/>
          </p:nvPr>
        </p:nvSpPr>
        <p:spPr/>
        <p:txBody>
          <a:bodyPr/>
          <a:lstStyle/>
          <a:p>
            <a:fld id="{65C7B3F9-4A39-4460-8EB3-980838FD8B3B}" type="datetime1">
              <a:rPr lang="es-MX" smtClean="0"/>
              <a:t>15/06/2026</a:t>
            </a:fld>
            <a:endParaRPr lang="es-MX"/>
          </a:p>
        </p:txBody>
      </p:sp>
      <p:sp>
        <p:nvSpPr>
          <p:cNvPr id="6" name="Marcador de pie de página 5">
            <a:extLst>
              <a:ext uri="{FF2B5EF4-FFF2-40B4-BE49-F238E27FC236}">
                <a16:creationId xmlns:a16="http://schemas.microsoft.com/office/drawing/2014/main" id="{71CF638E-1211-43CC-952E-14A96C8B8347}"/>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89E302B9-CA40-4CD6-A385-E9B4BBCB3F03}"/>
              </a:ext>
            </a:extLst>
          </p:cNvPr>
          <p:cNvSpPr>
            <a:spLocks noGrp="1"/>
          </p:cNvSpPr>
          <p:nvPr>
            <p:ph type="sldNum" sz="quarter" idx="12"/>
          </p:nvPr>
        </p:nvSpPr>
        <p:spPr/>
        <p:txBody>
          <a:bodyPr/>
          <a:lstStyle/>
          <a:p>
            <a:fld id="{90A5DFEB-E07E-4B57-AD4A-E6E5A3B83734}" type="slidenum">
              <a:rPr lang="es-MX" smtClean="0"/>
              <a:t>‹Nº›</a:t>
            </a:fld>
            <a:endParaRPr lang="es-MX"/>
          </a:p>
        </p:txBody>
      </p:sp>
    </p:spTree>
    <p:extLst>
      <p:ext uri="{BB962C8B-B14F-4D97-AF65-F5344CB8AC3E}">
        <p14:creationId xmlns:p14="http://schemas.microsoft.com/office/powerpoint/2010/main" val="7729835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E32B0BD-5BF0-4ADE-953A-39E9BDAC861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8A43A6F6-A94E-4102-B2BA-81C6FDE8E71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0BF4876C-6719-4C7D-AE00-9E7C322E32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4943D38-4FEB-4C2C-8BA6-348D7972F87D}"/>
              </a:ext>
            </a:extLst>
          </p:cNvPr>
          <p:cNvSpPr>
            <a:spLocks noGrp="1"/>
          </p:cNvSpPr>
          <p:nvPr>
            <p:ph type="dt" sz="half" idx="10"/>
          </p:nvPr>
        </p:nvSpPr>
        <p:spPr/>
        <p:txBody>
          <a:bodyPr/>
          <a:lstStyle/>
          <a:p>
            <a:fld id="{CE405E11-B2F0-47CD-8E73-8C8EFEA5DDE4}" type="datetime1">
              <a:rPr lang="es-MX" smtClean="0"/>
              <a:t>15/06/2026</a:t>
            </a:fld>
            <a:endParaRPr lang="es-MX"/>
          </a:p>
        </p:txBody>
      </p:sp>
      <p:sp>
        <p:nvSpPr>
          <p:cNvPr id="6" name="Marcador de pie de página 5">
            <a:extLst>
              <a:ext uri="{FF2B5EF4-FFF2-40B4-BE49-F238E27FC236}">
                <a16:creationId xmlns:a16="http://schemas.microsoft.com/office/drawing/2014/main" id="{854B384F-F38D-41D3-BD98-A9329C482081}"/>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9D77AB80-AD70-40B9-A20F-8154F669C531}"/>
              </a:ext>
            </a:extLst>
          </p:cNvPr>
          <p:cNvSpPr>
            <a:spLocks noGrp="1"/>
          </p:cNvSpPr>
          <p:nvPr>
            <p:ph type="sldNum" sz="quarter" idx="12"/>
          </p:nvPr>
        </p:nvSpPr>
        <p:spPr/>
        <p:txBody>
          <a:bodyPr/>
          <a:lstStyle/>
          <a:p>
            <a:fld id="{90A5DFEB-E07E-4B57-AD4A-E6E5A3B83734}" type="slidenum">
              <a:rPr lang="es-MX" smtClean="0"/>
              <a:t>‹Nº›</a:t>
            </a:fld>
            <a:endParaRPr lang="es-MX"/>
          </a:p>
        </p:txBody>
      </p:sp>
    </p:spTree>
    <p:extLst>
      <p:ext uri="{BB962C8B-B14F-4D97-AF65-F5344CB8AC3E}">
        <p14:creationId xmlns:p14="http://schemas.microsoft.com/office/powerpoint/2010/main" val="17010872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F8880A4-BFAA-4FFD-AE49-8BCB10DB06FD}"/>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0E84846A-CB6F-4F6F-A532-1A0B9089DE40}"/>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20704585-4AE0-4363-943D-5E8726F5F33D}"/>
              </a:ext>
            </a:extLst>
          </p:cNvPr>
          <p:cNvSpPr>
            <a:spLocks noGrp="1"/>
          </p:cNvSpPr>
          <p:nvPr>
            <p:ph type="dt" sz="half" idx="10"/>
          </p:nvPr>
        </p:nvSpPr>
        <p:spPr/>
        <p:txBody>
          <a:bodyPr/>
          <a:lstStyle/>
          <a:p>
            <a:fld id="{5EE24AF0-0005-419E-B0C4-CC65885AB75E}" type="datetime1">
              <a:rPr lang="es-MX" smtClean="0"/>
              <a:t>15/06/2026</a:t>
            </a:fld>
            <a:endParaRPr lang="es-MX"/>
          </a:p>
        </p:txBody>
      </p:sp>
      <p:sp>
        <p:nvSpPr>
          <p:cNvPr id="5" name="Marcador de pie de página 4">
            <a:extLst>
              <a:ext uri="{FF2B5EF4-FFF2-40B4-BE49-F238E27FC236}">
                <a16:creationId xmlns:a16="http://schemas.microsoft.com/office/drawing/2014/main" id="{EDDE55A4-91B4-401D-B76B-5BBF71820364}"/>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59551460-E787-4E4F-A92F-629A21CF9E4B}"/>
              </a:ext>
            </a:extLst>
          </p:cNvPr>
          <p:cNvSpPr>
            <a:spLocks noGrp="1"/>
          </p:cNvSpPr>
          <p:nvPr>
            <p:ph type="sldNum" sz="quarter" idx="12"/>
          </p:nvPr>
        </p:nvSpPr>
        <p:spPr/>
        <p:txBody>
          <a:bodyPr/>
          <a:lstStyle/>
          <a:p>
            <a:fld id="{90A5DFEB-E07E-4B57-AD4A-E6E5A3B83734}" type="slidenum">
              <a:rPr lang="es-MX" smtClean="0"/>
              <a:t>‹Nº›</a:t>
            </a:fld>
            <a:endParaRPr lang="es-MX"/>
          </a:p>
        </p:txBody>
      </p:sp>
    </p:spTree>
    <p:extLst>
      <p:ext uri="{BB962C8B-B14F-4D97-AF65-F5344CB8AC3E}">
        <p14:creationId xmlns:p14="http://schemas.microsoft.com/office/powerpoint/2010/main" val="24085784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369F4F39-0948-42F9-88F1-EB273E420566}"/>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3A721A08-7720-4A92-B875-209E41DA8F8C}"/>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71CBB594-0BB9-42A0-9ECD-F52B8F812BE7}"/>
              </a:ext>
            </a:extLst>
          </p:cNvPr>
          <p:cNvSpPr>
            <a:spLocks noGrp="1"/>
          </p:cNvSpPr>
          <p:nvPr>
            <p:ph type="dt" sz="half" idx="10"/>
          </p:nvPr>
        </p:nvSpPr>
        <p:spPr/>
        <p:txBody>
          <a:bodyPr/>
          <a:lstStyle/>
          <a:p>
            <a:fld id="{20630822-2C10-47C7-AF9C-AF3EA88223C9}" type="datetime1">
              <a:rPr lang="es-MX" smtClean="0"/>
              <a:t>15/06/2026</a:t>
            </a:fld>
            <a:endParaRPr lang="es-MX"/>
          </a:p>
        </p:txBody>
      </p:sp>
      <p:sp>
        <p:nvSpPr>
          <p:cNvPr id="5" name="Marcador de pie de página 4">
            <a:extLst>
              <a:ext uri="{FF2B5EF4-FFF2-40B4-BE49-F238E27FC236}">
                <a16:creationId xmlns:a16="http://schemas.microsoft.com/office/drawing/2014/main" id="{6BE95B20-8021-46DE-A75E-3FC29A9F2BA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F2592607-BB15-44B3-A079-DA58297F5CAD}"/>
              </a:ext>
            </a:extLst>
          </p:cNvPr>
          <p:cNvSpPr>
            <a:spLocks noGrp="1"/>
          </p:cNvSpPr>
          <p:nvPr>
            <p:ph type="sldNum" sz="quarter" idx="12"/>
          </p:nvPr>
        </p:nvSpPr>
        <p:spPr/>
        <p:txBody>
          <a:bodyPr/>
          <a:lstStyle/>
          <a:p>
            <a:fld id="{90A5DFEB-E07E-4B57-AD4A-E6E5A3B83734}" type="slidenum">
              <a:rPr lang="es-MX" smtClean="0"/>
              <a:t>‹Nº›</a:t>
            </a:fld>
            <a:endParaRPr lang="es-MX"/>
          </a:p>
        </p:txBody>
      </p:sp>
    </p:spTree>
    <p:extLst>
      <p:ext uri="{BB962C8B-B14F-4D97-AF65-F5344CB8AC3E}">
        <p14:creationId xmlns:p14="http://schemas.microsoft.com/office/powerpoint/2010/main" val="1378686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80569BB-D1AA-41BC-9020-12FA9072CA72}"/>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F5541158-CFD6-4C3C-BDE3-79C9F5F31E4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C156E42B-87AB-4AF8-88AF-930AFB3369FC}"/>
              </a:ext>
            </a:extLst>
          </p:cNvPr>
          <p:cNvSpPr>
            <a:spLocks noGrp="1"/>
          </p:cNvSpPr>
          <p:nvPr>
            <p:ph type="dt" sz="half" idx="10"/>
          </p:nvPr>
        </p:nvSpPr>
        <p:spPr/>
        <p:txBody>
          <a:bodyPr/>
          <a:lstStyle/>
          <a:p>
            <a:fld id="{D77915CB-2684-4AD9-B52B-C929763090CA}" type="datetime1">
              <a:rPr lang="es-MX" smtClean="0"/>
              <a:t>15/06/2026</a:t>
            </a:fld>
            <a:endParaRPr lang="es-MX"/>
          </a:p>
        </p:txBody>
      </p:sp>
      <p:sp>
        <p:nvSpPr>
          <p:cNvPr id="5" name="Marcador de pie de página 4">
            <a:extLst>
              <a:ext uri="{FF2B5EF4-FFF2-40B4-BE49-F238E27FC236}">
                <a16:creationId xmlns:a16="http://schemas.microsoft.com/office/drawing/2014/main" id="{E2AD6A0D-EA8B-453D-AE10-AC76323DAF33}"/>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D6BB4BCA-5729-478B-B189-05322C120D41}"/>
              </a:ext>
            </a:extLst>
          </p:cNvPr>
          <p:cNvSpPr>
            <a:spLocks noGrp="1"/>
          </p:cNvSpPr>
          <p:nvPr>
            <p:ph type="sldNum" sz="quarter" idx="12"/>
          </p:nvPr>
        </p:nvSpPr>
        <p:spPr/>
        <p:txBody>
          <a:bodyPr/>
          <a:lstStyle/>
          <a:p>
            <a:fld id="{28FAD80A-BD4B-4644-B5A4-99133F8C7605}" type="slidenum">
              <a:rPr lang="es-MX" smtClean="0"/>
              <a:t>‹Nº›</a:t>
            </a:fld>
            <a:endParaRPr lang="es-MX"/>
          </a:p>
        </p:txBody>
      </p:sp>
    </p:spTree>
    <p:extLst>
      <p:ext uri="{BB962C8B-B14F-4D97-AF65-F5344CB8AC3E}">
        <p14:creationId xmlns:p14="http://schemas.microsoft.com/office/powerpoint/2010/main" val="34099647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DBE825-AE03-46CC-B509-C2868569C1D4}"/>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65C182F8-7F8B-4132-8504-639CE9B6A65A}"/>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8FB52CFE-7F0E-4B86-A717-CC8B5F37B5A9}"/>
              </a:ext>
            </a:extLst>
          </p:cNvPr>
          <p:cNvSpPr>
            <a:spLocks noGrp="1"/>
          </p:cNvSpPr>
          <p:nvPr>
            <p:ph type="dt" sz="half" idx="10"/>
          </p:nvPr>
        </p:nvSpPr>
        <p:spPr/>
        <p:txBody>
          <a:bodyPr/>
          <a:lstStyle/>
          <a:p>
            <a:fld id="{CC66BEDB-3A64-4BD9-937C-92C35E747F6B}" type="datetime1">
              <a:rPr lang="es-MX" smtClean="0"/>
              <a:t>15/06/2026</a:t>
            </a:fld>
            <a:endParaRPr lang="es-MX"/>
          </a:p>
        </p:txBody>
      </p:sp>
      <p:sp>
        <p:nvSpPr>
          <p:cNvPr id="5" name="Marcador de pie de página 4">
            <a:extLst>
              <a:ext uri="{FF2B5EF4-FFF2-40B4-BE49-F238E27FC236}">
                <a16:creationId xmlns:a16="http://schemas.microsoft.com/office/drawing/2014/main" id="{9BC654AE-C89B-4BEA-A2C6-3A2912190CF9}"/>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011FBAAC-DACC-40C3-8808-14B34FDC2AA5}"/>
              </a:ext>
            </a:extLst>
          </p:cNvPr>
          <p:cNvSpPr>
            <a:spLocks noGrp="1"/>
          </p:cNvSpPr>
          <p:nvPr>
            <p:ph type="sldNum" sz="quarter" idx="12"/>
          </p:nvPr>
        </p:nvSpPr>
        <p:spPr/>
        <p:txBody>
          <a:bodyPr/>
          <a:lstStyle/>
          <a:p>
            <a:fld id="{28FAD80A-BD4B-4644-B5A4-99133F8C7605}" type="slidenum">
              <a:rPr lang="es-MX" smtClean="0"/>
              <a:t>‹Nº›</a:t>
            </a:fld>
            <a:endParaRPr lang="es-MX"/>
          </a:p>
        </p:txBody>
      </p:sp>
    </p:spTree>
    <p:extLst>
      <p:ext uri="{BB962C8B-B14F-4D97-AF65-F5344CB8AC3E}">
        <p14:creationId xmlns:p14="http://schemas.microsoft.com/office/powerpoint/2010/main" val="18423749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59024A9-ADC0-475C-A4CE-52EC4194E9C7}"/>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388DEDB7-2AC4-4038-9094-37466A0EA4B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8C127CF8-A74A-4A66-80CA-4069A986E340}"/>
              </a:ext>
            </a:extLst>
          </p:cNvPr>
          <p:cNvSpPr>
            <a:spLocks noGrp="1"/>
          </p:cNvSpPr>
          <p:nvPr>
            <p:ph type="dt" sz="half" idx="10"/>
          </p:nvPr>
        </p:nvSpPr>
        <p:spPr/>
        <p:txBody>
          <a:bodyPr/>
          <a:lstStyle/>
          <a:p>
            <a:fld id="{7867856E-A756-49D7-9127-08A5FEE39B11}" type="datetime1">
              <a:rPr lang="es-MX" smtClean="0"/>
              <a:t>15/06/2026</a:t>
            </a:fld>
            <a:endParaRPr lang="es-MX"/>
          </a:p>
        </p:txBody>
      </p:sp>
      <p:sp>
        <p:nvSpPr>
          <p:cNvPr id="5" name="Marcador de pie de página 4">
            <a:extLst>
              <a:ext uri="{FF2B5EF4-FFF2-40B4-BE49-F238E27FC236}">
                <a16:creationId xmlns:a16="http://schemas.microsoft.com/office/drawing/2014/main" id="{89E4F050-3352-46A9-9F93-62EEA78D8807}"/>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1A020346-687C-4755-BD4B-F4FCB309E9F3}"/>
              </a:ext>
            </a:extLst>
          </p:cNvPr>
          <p:cNvSpPr>
            <a:spLocks noGrp="1"/>
          </p:cNvSpPr>
          <p:nvPr>
            <p:ph type="sldNum" sz="quarter" idx="12"/>
          </p:nvPr>
        </p:nvSpPr>
        <p:spPr/>
        <p:txBody>
          <a:bodyPr/>
          <a:lstStyle/>
          <a:p>
            <a:fld id="{28FAD80A-BD4B-4644-B5A4-99133F8C7605}" type="slidenum">
              <a:rPr lang="es-MX" smtClean="0"/>
              <a:t>‹Nº›</a:t>
            </a:fld>
            <a:endParaRPr lang="es-MX"/>
          </a:p>
        </p:txBody>
      </p:sp>
    </p:spTree>
    <p:extLst>
      <p:ext uri="{BB962C8B-B14F-4D97-AF65-F5344CB8AC3E}">
        <p14:creationId xmlns:p14="http://schemas.microsoft.com/office/powerpoint/2010/main" val="30582527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603DBBE-D2E4-4F04-B922-5FD7577268AC}"/>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4BC68BAE-5D08-4DB1-B4F8-B7570F89E75F}"/>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C093BADE-23A4-4D42-A5BB-1FA6BDBCDF4F}"/>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E52EA602-54A7-45EB-A826-11A0035CFF6F}"/>
              </a:ext>
            </a:extLst>
          </p:cNvPr>
          <p:cNvSpPr>
            <a:spLocks noGrp="1"/>
          </p:cNvSpPr>
          <p:nvPr>
            <p:ph type="dt" sz="half" idx="10"/>
          </p:nvPr>
        </p:nvSpPr>
        <p:spPr/>
        <p:txBody>
          <a:bodyPr/>
          <a:lstStyle/>
          <a:p>
            <a:fld id="{0F0D400F-7146-497B-9B9A-15172F13A02D}" type="datetime1">
              <a:rPr lang="es-MX" smtClean="0"/>
              <a:t>15/06/2026</a:t>
            </a:fld>
            <a:endParaRPr lang="es-MX"/>
          </a:p>
        </p:txBody>
      </p:sp>
      <p:sp>
        <p:nvSpPr>
          <p:cNvPr id="6" name="Marcador de pie de página 5">
            <a:extLst>
              <a:ext uri="{FF2B5EF4-FFF2-40B4-BE49-F238E27FC236}">
                <a16:creationId xmlns:a16="http://schemas.microsoft.com/office/drawing/2014/main" id="{844EBFCF-024B-4F45-AE25-565676518D1D}"/>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66EC06DF-BE02-4D50-976E-47B7A16B6B82}"/>
              </a:ext>
            </a:extLst>
          </p:cNvPr>
          <p:cNvSpPr>
            <a:spLocks noGrp="1"/>
          </p:cNvSpPr>
          <p:nvPr>
            <p:ph type="sldNum" sz="quarter" idx="12"/>
          </p:nvPr>
        </p:nvSpPr>
        <p:spPr/>
        <p:txBody>
          <a:bodyPr/>
          <a:lstStyle/>
          <a:p>
            <a:fld id="{28FAD80A-BD4B-4644-B5A4-99133F8C7605}" type="slidenum">
              <a:rPr lang="es-MX" smtClean="0"/>
              <a:t>‹Nº›</a:t>
            </a:fld>
            <a:endParaRPr lang="es-MX"/>
          </a:p>
        </p:txBody>
      </p:sp>
    </p:spTree>
    <p:extLst>
      <p:ext uri="{BB962C8B-B14F-4D97-AF65-F5344CB8AC3E}">
        <p14:creationId xmlns:p14="http://schemas.microsoft.com/office/powerpoint/2010/main" val="29765559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E460EC7-1D14-4C95-A1F8-137DF6F397A4}"/>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DE1B9F03-7F8A-4BB3-8FB2-248C69A9FBA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E931729C-46FF-4211-B612-707528778B10}"/>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F51AC62D-32E8-41C0-A71D-01FC60F8376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2A1F56A6-EE9F-46F9-9F6C-F5C0C65834D9}"/>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5AC8D94F-CE70-4ACA-A646-58C05D558820}"/>
              </a:ext>
            </a:extLst>
          </p:cNvPr>
          <p:cNvSpPr>
            <a:spLocks noGrp="1"/>
          </p:cNvSpPr>
          <p:nvPr>
            <p:ph type="dt" sz="half" idx="10"/>
          </p:nvPr>
        </p:nvSpPr>
        <p:spPr/>
        <p:txBody>
          <a:bodyPr/>
          <a:lstStyle/>
          <a:p>
            <a:fld id="{FDBB07ED-6A46-4EC5-8D31-AF5325EB791E}" type="datetime1">
              <a:rPr lang="es-MX" smtClean="0"/>
              <a:t>15/06/2026</a:t>
            </a:fld>
            <a:endParaRPr lang="es-MX"/>
          </a:p>
        </p:txBody>
      </p:sp>
      <p:sp>
        <p:nvSpPr>
          <p:cNvPr id="8" name="Marcador de pie de página 7">
            <a:extLst>
              <a:ext uri="{FF2B5EF4-FFF2-40B4-BE49-F238E27FC236}">
                <a16:creationId xmlns:a16="http://schemas.microsoft.com/office/drawing/2014/main" id="{65D87F43-1A42-46F0-943E-15A74E8443D5}"/>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F4D81AF9-C612-4360-9AA5-05A9FA1A3B33}"/>
              </a:ext>
            </a:extLst>
          </p:cNvPr>
          <p:cNvSpPr>
            <a:spLocks noGrp="1"/>
          </p:cNvSpPr>
          <p:nvPr>
            <p:ph type="sldNum" sz="quarter" idx="12"/>
          </p:nvPr>
        </p:nvSpPr>
        <p:spPr/>
        <p:txBody>
          <a:bodyPr/>
          <a:lstStyle/>
          <a:p>
            <a:fld id="{28FAD80A-BD4B-4644-B5A4-99133F8C7605}" type="slidenum">
              <a:rPr lang="es-MX" smtClean="0"/>
              <a:t>‹Nº›</a:t>
            </a:fld>
            <a:endParaRPr lang="es-MX"/>
          </a:p>
        </p:txBody>
      </p:sp>
    </p:spTree>
    <p:extLst>
      <p:ext uri="{BB962C8B-B14F-4D97-AF65-F5344CB8AC3E}">
        <p14:creationId xmlns:p14="http://schemas.microsoft.com/office/powerpoint/2010/main" val="22950766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D94446-690F-49EA-9935-A793775A3BD7}"/>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7CEF97F0-CD59-4395-819D-575B099BCC59}"/>
              </a:ext>
            </a:extLst>
          </p:cNvPr>
          <p:cNvSpPr>
            <a:spLocks noGrp="1"/>
          </p:cNvSpPr>
          <p:nvPr>
            <p:ph type="dt" sz="half" idx="10"/>
          </p:nvPr>
        </p:nvSpPr>
        <p:spPr/>
        <p:txBody>
          <a:bodyPr/>
          <a:lstStyle/>
          <a:p>
            <a:fld id="{E8E6EC20-398A-4F8E-8907-91BEED6CE050}" type="datetime1">
              <a:rPr lang="es-MX" smtClean="0"/>
              <a:t>15/06/2026</a:t>
            </a:fld>
            <a:endParaRPr lang="es-MX"/>
          </a:p>
        </p:txBody>
      </p:sp>
      <p:sp>
        <p:nvSpPr>
          <p:cNvPr id="4" name="Marcador de pie de página 3">
            <a:extLst>
              <a:ext uri="{FF2B5EF4-FFF2-40B4-BE49-F238E27FC236}">
                <a16:creationId xmlns:a16="http://schemas.microsoft.com/office/drawing/2014/main" id="{B1445D2D-714D-4012-B8DB-9A6A2B389F6A}"/>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5CCCAFA4-38B3-479F-A478-DA1E2C33EF16}"/>
              </a:ext>
            </a:extLst>
          </p:cNvPr>
          <p:cNvSpPr>
            <a:spLocks noGrp="1"/>
          </p:cNvSpPr>
          <p:nvPr>
            <p:ph type="sldNum" sz="quarter" idx="12"/>
          </p:nvPr>
        </p:nvSpPr>
        <p:spPr/>
        <p:txBody>
          <a:bodyPr/>
          <a:lstStyle/>
          <a:p>
            <a:fld id="{28FAD80A-BD4B-4644-B5A4-99133F8C7605}" type="slidenum">
              <a:rPr lang="es-MX" smtClean="0"/>
              <a:t>‹Nº›</a:t>
            </a:fld>
            <a:endParaRPr lang="es-MX"/>
          </a:p>
        </p:txBody>
      </p:sp>
    </p:spTree>
    <p:extLst>
      <p:ext uri="{BB962C8B-B14F-4D97-AF65-F5344CB8AC3E}">
        <p14:creationId xmlns:p14="http://schemas.microsoft.com/office/powerpoint/2010/main" val="2347545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E290A9B8-38BB-46D4-9638-31D7C88E3905}"/>
              </a:ext>
            </a:extLst>
          </p:cNvPr>
          <p:cNvSpPr>
            <a:spLocks noGrp="1"/>
          </p:cNvSpPr>
          <p:nvPr>
            <p:ph type="dt" sz="half" idx="10"/>
          </p:nvPr>
        </p:nvSpPr>
        <p:spPr/>
        <p:txBody>
          <a:bodyPr/>
          <a:lstStyle/>
          <a:p>
            <a:fld id="{96403480-F7FA-4694-86FE-8DD7AB8AAB4D}" type="datetime1">
              <a:rPr lang="es-MX" smtClean="0"/>
              <a:t>15/06/2026</a:t>
            </a:fld>
            <a:endParaRPr lang="es-MX"/>
          </a:p>
        </p:txBody>
      </p:sp>
      <p:sp>
        <p:nvSpPr>
          <p:cNvPr id="3" name="Marcador de pie de página 2">
            <a:extLst>
              <a:ext uri="{FF2B5EF4-FFF2-40B4-BE49-F238E27FC236}">
                <a16:creationId xmlns:a16="http://schemas.microsoft.com/office/drawing/2014/main" id="{8BE665E4-512D-4688-B71F-8EBF1E9EA2FA}"/>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B6B721AF-AC52-44F9-B8E1-2942BB55CA4E}"/>
              </a:ext>
            </a:extLst>
          </p:cNvPr>
          <p:cNvSpPr>
            <a:spLocks noGrp="1"/>
          </p:cNvSpPr>
          <p:nvPr>
            <p:ph type="sldNum" sz="quarter" idx="12"/>
          </p:nvPr>
        </p:nvSpPr>
        <p:spPr/>
        <p:txBody>
          <a:bodyPr/>
          <a:lstStyle/>
          <a:p>
            <a:fld id="{28FAD80A-BD4B-4644-B5A4-99133F8C7605}" type="slidenum">
              <a:rPr lang="es-MX" smtClean="0"/>
              <a:t>‹Nº›</a:t>
            </a:fld>
            <a:endParaRPr lang="es-MX"/>
          </a:p>
        </p:txBody>
      </p:sp>
    </p:spTree>
    <p:extLst>
      <p:ext uri="{BB962C8B-B14F-4D97-AF65-F5344CB8AC3E}">
        <p14:creationId xmlns:p14="http://schemas.microsoft.com/office/powerpoint/2010/main" val="303209584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65E4005-27CE-4673-8E2A-3E393024B82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1E6CD5B0-4D5F-4626-8167-9BDAB9E0275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B160094B-F4D6-45B5-A313-1E20154FF2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F293834-E6EA-4CA6-85FC-579B32CF794E}"/>
              </a:ext>
            </a:extLst>
          </p:cNvPr>
          <p:cNvSpPr>
            <a:spLocks noGrp="1"/>
          </p:cNvSpPr>
          <p:nvPr>
            <p:ph type="dt" sz="half" idx="10"/>
          </p:nvPr>
        </p:nvSpPr>
        <p:spPr/>
        <p:txBody>
          <a:bodyPr/>
          <a:lstStyle/>
          <a:p>
            <a:fld id="{248DDF87-7080-4D04-88C8-317B64B148B7}" type="datetime1">
              <a:rPr lang="es-MX" smtClean="0"/>
              <a:t>15/06/2026</a:t>
            </a:fld>
            <a:endParaRPr lang="es-MX"/>
          </a:p>
        </p:txBody>
      </p:sp>
      <p:sp>
        <p:nvSpPr>
          <p:cNvPr id="6" name="Marcador de pie de página 5">
            <a:extLst>
              <a:ext uri="{FF2B5EF4-FFF2-40B4-BE49-F238E27FC236}">
                <a16:creationId xmlns:a16="http://schemas.microsoft.com/office/drawing/2014/main" id="{00CA0BAB-DDE7-4DFE-90A0-23ED645316B8}"/>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23202B5-385C-450E-86FD-EDE657DCA17B}"/>
              </a:ext>
            </a:extLst>
          </p:cNvPr>
          <p:cNvSpPr>
            <a:spLocks noGrp="1"/>
          </p:cNvSpPr>
          <p:nvPr>
            <p:ph type="sldNum" sz="quarter" idx="12"/>
          </p:nvPr>
        </p:nvSpPr>
        <p:spPr/>
        <p:txBody>
          <a:bodyPr/>
          <a:lstStyle/>
          <a:p>
            <a:fld id="{28FAD80A-BD4B-4644-B5A4-99133F8C7605}" type="slidenum">
              <a:rPr lang="es-MX" smtClean="0"/>
              <a:t>‹Nº›</a:t>
            </a:fld>
            <a:endParaRPr lang="es-MX"/>
          </a:p>
        </p:txBody>
      </p:sp>
    </p:spTree>
    <p:extLst>
      <p:ext uri="{BB962C8B-B14F-4D97-AF65-F5344CB8AC3E}">
        <p14:creationId xmlns:p14="http://schemas.microsoft.com/office/powerpoint/2010/main" val="35538342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3D6DA8C-5A92-4395-8B52-1B64C0012F69}"/>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39150023-BFFF-4E45-BB48-B33318C3A64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9BECFF12-0C6F-4BB4-96CE-B003C0EA2E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F40389C-C27C-4B18-95B7-A39C92F10F94}"/>
              </a:ext>
            </a:extLst>
          </p:cNvPr>
          <p:cNvSpPr>
            <a:spLocks noGrp="1"/>
          </p:cNvSpPr>
          <p:nvPr>
            <p:ph type="dt" sz="half" idx="10"/>
          </p:nvPr>
        </p:nvSpPr>
        <p:spPr/>
        <p:txBody>
          <a:bodyPr/>
          <a:lstStyle/>
          <a:p>
            <a:fld id="{7F486D58-5117-4B8F-8500-5045B431E6C2}" type="datetime1">
              <a:rPr lang="es-MX" smtClean="0"/>
              <a:t>15/06/2026</a:t>
            </a:fld>
            <a:endParaRPr lang="es-MX"/>
          </a:p>
        </p:txBody>
      </p:sp>
      <p:sp>
        <p:nvSpPr>
          <p:cNvPr id="6" name="Marcador de pie de página 5">
            <a:extLst>
              <a:ext uri="{FF2B5EF4-FFF2-40B4-BE49-F238E27FC236}">
                <a16:creationId xmlns:a16="http://schemas.microsoft.com/office/drawing/2014/main" id="{7E478831-E1D8-4A43-8974-AB1822DCD2F1}"/>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6602E3EF-8287-47CA-9B6F-1494D91C6ADF}"/>
              </a:ext>
            </a:extLst>
          </p:cNvPr>
          <p:cNvSpPr>
            <a:spLocks noGrp="1"/>
          </p:cNvSpPr>
          <p:nvPr>
            <p:ph type="sldNum" sz="quarter" idx="12"/>
          </p:nvPr>
        </p:nvSpPr>
        <p:spPr/>
        <p:txBody>
          <a:bodyPr/>
          <a:lstStyle/>
          <a:p>
            <a:fld id="{28FAD80A-BD4B-4644-B5A4-99133F8C7605}" type="slidenum">
              <a:rPr lang="es-MX" smtClean="0"/>
              <a:t>‹Nº›</a:t>
            </a:fld>
            <a:endParaRPr lang="es-MX"/>
          </a:p>
        </p:txBody>
      </p:sp>
    </p:spTree>
    <p:extLst>
      <p:ext uri="{BB962C8B-B14F-4D97-AF65-F5344CB8AC3E}">
        <p14:creationId xmlns:p14="http://schemas.microsoft.com/office/powerpoint/2010/main" val="324567662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F10128-0488-488A-9C5F-6BE7434A08EA}"/>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57090DA6-E9CE-4F26-9757-6DB2E7EAF86D}"/>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1E5E9C56-F4C1-48CE-AE02-C2F84544E0F0}"/>
              </a:ext>
            </a:extLst>
          </p:cNvPr>
          <p:cNvSpPr>
            <a:spLocks noGrp="1"/>
          </p:cNvSpPr>
          <p:nvPr>
            <p:ph type="dt" sz="half" idx="10"/>
          </p:nvPr>
        </p:nvSpPr>
        <p:spPr/>
        <p:txBody>
          <a:bodyPr/>
          <a:lstStyle/>
          <a:p>
            <a:fld id="{DB46EEC1-3A40-4E7C-B91C-34BA995EDB68}" type="datetime1">
              <a:rPr lang="es-MX" smtClean="0"/>
              <a:t>15/06/2026</a:t>
            </a:fld>
            <a:endParaRPr lang="es-MX"/>
          </a:p>
        </p:txBody>
      </p:sp>
      <p:sp>
        <p:nvSpPr>
          <p:cNvPr id="5" name="Marcador de pie de página 4">
            <a:extLst>
              <a:ext uri="{FF2B5EF4-FFF2-40B4-BE49-F238E27FC236}">
                <a16:creationId xmlns:a16="http://schemas.microsoft.com/office/drawing/2014/main" id="{60D66ACF-0E09-42A4-8BD5-A09F849FCF8D}"/>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0FAB16C-4B13-4E12-9330-698178DFD3EF}"/>
              </a:ext>
            </a:extLst>
          </p:cNvPr>
          <p:cNvSpPr>
            <a:spLocks noGrp="1"/>
          </p:cNvSpPr>
          <p:nvPr>
            <p:ph type="sldNum" sz="quarter" idx="12"/>
          </p:nvPr>
        </p:nvSpPr>
        <p:spPr/>
        <p:txBody>
          <a:bodyPr/>
          <a:lstStyle/>
          <a:p>
            <a:fld id="{28FAD80A-BD4B-4644-B5A4-99133F8C7605}" type="slidenum">
              <a:rPr lang="es-MX" smtClean="0"/>
              <a:t>‹Nº›</a:t>
            </a:fld>
            <a:endParaRPr lang="es-MX"/>
          </a:p>
        </p:txBody>
      </p:sp>
    </p:spTree>
    <p:extLst>
      <p:ext uri="{BB962C8B-B14F-4D97-AF65-F5344CB8AC3E}">
        <p14:creationId xmlns:p14="http://schemas.microsoft.com/office/powerpoint/2010/main" val="179947357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A2C6105C-27C2-4857-83E2-F751F27E66CF}"/>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F4A8E83D-195D-4EFF-9F61-045A05AE49AF}"/>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9456A393-A363-4812-8C9C-B24C41992E65}"/>
              </a:ext>
            </a:extLst>
          </p:cNvPr>
          <p:cNvSpPr>
            <a:spLocks noGrp="1"/>
          </p:cNvSpPr>
          <p:nvPr>
            <p:ph type="dt" sz="half" idx="10"/>
          </p:nvPr>
        </p:nvSpPr>
        <p:spPr/>
        <p:txBody>
          <a:bodyPr/>
          <a:lstStyle/>
          <a:p>
            <a:fld id="{9D9868A7-8A19-46D4-88B4-1A35902D5A54}" type="datetime1">
              <a:rPr lang="es-MX" smtClean="0"/>
              <a:t>15/06/2026</a:t>
            </a:fld>
            <a:endParaRPr lang="es-MX"/>
          </a:p>
        </p:txBody>
      </p:sp>
      <p:sp>
        <p:nvSpPr>
          <p:cNvPr id="5" name="Marcador de pie de página 4">
            <a:extLst>
              <a:ext uri="{FF2B5EF4-FFF2-40B4-BE49-F238E27FC236}">
                <a16:creationId xmlns:a16="http://schemas.microsoft.com/office/drawing/2014/main" id="{5DB29CA4-6735-4DFB-9D4F-0CDF0341646D}"/>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CF7443E7-C4C5-4D96-8315-AC8570BF4FC2}"/>
              </a:ext>
            </a:extLst>
          </p:cNvPr>
          <p:cNvSpPr>
            <a:spLocks noGrp="1"/>
          </p:cNvSpPr>
          <p:nvPr>
            <p:ph type="sldNum" sz="quarter" idx="12"/>
          </p:nvPr>
        </p:nvSpPr>
        <p:spPr/>
        <p:txBody>
          <a:bodyPr/>
          <a:lstStyle/>
          <a:p>
            <a:fld id="{28FAD80A-BD4B-4644-B5A4-99133F8C7605}" type="slidenum">
              <a:rPr lang="es-MX" smtClean="0"/>
              <a:t>‹Nº›</a:t>
            </a:fld>
            <a:endParaRPr lang="es-MX"/>
          </a:p>
        </p:txBody>
      </p:sp>
    </p:spTree>
    <p:extLst>
      <p:ext uri="{BB962C8B-B14F-4D97-AF65-F5344CB8AC3E}">
        <p14:creationId xmlns:p14="http://schemas.microsoft.com/office/powerpoint/2010/main" val="15196195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B04FD0AA-29A1-4162-B679-4D47F85144A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D2AAE008-553E-46A0-9F31-04AB87FF44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60BBB6A6-AC9F-46A0-8D76-136DA49AC75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EC8C28-4E43-4B30-99F9-ADAAAD40CBD2}" type="datetime1">
              <a:rPr lang="es-MX" smtClean="0"/>
              <a:t>15/06/2026</a:t>
            </a:fld>
            <a:endParaRPr lang="es-MX"/>
          </a:p>
        </p:txBody>
      </p:sp>
      <p:sp>
        <p:nvSpPr>
          <p:cNvPr id="5" name="Marcador de pie de página 4">
            <a:extLst>
              <a:ext uri="{FF2B5EF4-FFF2-40B4-BE49-F238E27FC236}">
                <a16:creationId xmlns:a16="http://schemas.microsoft.com/office/drawing/2014/main" id="{98BD1803-3D43-4F9A-8C6B-399132383DA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5D99F700-F3B2-40B0-9EA1-F773A612AF4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0A5DFEB-E07E-4B57-AD4A-E6E5A3B83734}" type="slidenum">
              <a:rPr lang="es-MX" smtClean="0"/>
              <a:t>‹Nº›</a:t>
            </a:fld>
            <a:endParaRPr lang="es-MX"/>
          </a:p>
        </p:txBody>
      </p:sp>
    </p:spTree>
    <p:extLst>
      <p:ext uri="{BB962C8B-B14F-4D97-AF65-F5344CB8AC3E}">
        <p14:creationId xmlns:p14="http://schemas.microsoft.com/office/powerpoint/2010/main" val="30249105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39B675D-071B-4847-9543-0DCB7D9C78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58D314C1-8F19-418C-856F-AC97FC978A6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47BC66FD-9D89-41C0-BC61-80EDD1C390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A7DDD1-9F77-4F12-BA00-45107A5EA290}" type="datetime1">
              <a:rPr lang="es-MX" smtClean="0"/>
              <a:t>15/06/2026</a:t>
            </a:fld>
            <a:endParaRPr lang="es-MX"/>
          </a:p>
        </p:txBody>
      </p:sp>
      <p:sp>
        <p:nvSpPr>
          <p:cNvPr id="5" name="Marcador de pie de página 4">
            <a:extLst>
              <a:ext uri="{FF2B5EF4-FFF2-40B4-BE49-F238E27FC236}">
                <a16:creationId xmlns:a16="http://schemas.microsoft.com/office/drawing/2014/main" id="{7AA1CAEC-B7C9-432B-A5D8-7E645315357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3DC3655C-7C03-453D-8F41-CD80804D8A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8FAD80A-BD4B-4644-B5A4-99133F8C7605}" type="slidenum">
              <a:rPr lang="es-MX" smtClean="0"/>
              <a:t>‹Nº›</a:t>
            </a:fld>
            <a:endParaRPr lang="es-MX"/>
          </a:p>
        </p:txBody>
      </p:sp>
    </p:spTree>
    <p:extLst>
      <p:ext uri="{BB962C8B-B14F-4D97-AF65-F5344CB8AC3E}">
        <p14:creationId xmlns:p14="http://schemas.microsoft.com/office/powerpoint/2010/main" val="9264724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1EC1F6CC-7BF3-471C-ACB4-A42ECE5F5FC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610600" y="399828"/>
            <a:ext cx="1685296" cy="687876"/>
          </a:xfrm>
          <a:prstGeom prst="rect">
            <a:avLst/>
          </a:prstGeom>
        </p:spPr>
      </p:pic>
      <p:pic>
        <p:nvPicPr>
          <p:cNvPr id="3" name="Imagen 2">
            <a:extLst>
              <a:ext uri="{FF2B5EF4-FFF2-40B4-BE49-F238E27FC236}">
                <a16:creationId xmlns:a16="http://schemas.microsoft.com/office/drawing/2014/main" id="{D5AFBEAA-4C56-4B12-A262-9A51F25B018C}"/>
              </a:ext>
            </a:extLst>
          </p:cNvPr>
          <p:cNvPicPr>
            <a:picLocks noChangeAspect="1"/>
          </p:cNvPicPr>
          <p:nvPr/>
        </p:nvPicPr>
        <p:blipFill>
          <a:blip r:embed="rId3">
            <a:extLst>
              <a:ext uri="{28A0092B-C50C-407E-A947-70E740481C1C}">
                <a14:useLocalDpi xmlns:a14="http://schemas.microsoft.com/office/drawing/2010/main" val="0"/>
              </a:ext>
            </a:extLst>
          </a:blip>
          <a:srcRect l="65474" t="-1" b="-40163"/>
          <a:stretch/>
        </p:blipFill>
        <p:spPr>
          <a:xfrm>
            <a:off x="5725501" y="309135"/>
            <a:ext cx="1752758" cy="1054163"/>
          </a:xfrm>
          <a:prstGeom prst="rect">
            <a:avLst/>
          </a:prstGeom>
        </p:spPr>
      </p:pic>
      <p:sp>
        <p:nvSpPr>
          <p:cNvPr id="4" name="CuadroTexto 3">
            <a:extLst>
              <a:ext uri="{FF2B5EF4-FFF2-40B4-BE49-F238E27FC236}">
                <a16:creationId xmlns:a16="http://schemas.microsoft.com/office/drawing/2014/main" id="{DDFEC3B5-7446-4AA9-9BA0-C981DBC6B43E}"/>
              </a:ext>
            </a:extLst>
          </p:cNvPr>
          <p:cNvSpPr txBox="1"/>
          <p:nvPr/>
        </p:nvSpPr>
        <p:spPr>
          <a:xfrm>
            <a:off x="2547226" y="1359301"/>
            <a:ext cx="7234002" cy="5362174"/>
          </a:xfrm>
          <a:prstGeom prst="rect">
            <a:avLst/>
          </a:prstGeom>
          <a:noFill/>
        </p:spPr>
        <p:txBody>
          <a:bodyPr wrap="square">
            <a:spAutoFit/>
          </a:bodyPr>
          <a:ls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50000"/>
              </a:lnSpc>
              <a:spcBef>
                <a:spcPts val="1200"/>
              </a:spcBef>
              <a:spcAft>
                <a:spcPts val="1200"/>
              </a:spcAft>
              <a:buClrTx/>
              <a:buSzTx/>
              <a:buFontTx/>
              <a:buNone/>
              <a:tabLst/>
              <a:defRPr/>
            </a:pPr>
            <a:r>
              <a:rPr kumimoji="0" lang="es-ES" sz="1200" b="0" i="0" u="none" strike="noStrike" kern="1200" cap="none" spc="0" normalizeH="0" baseline="0" noProof="0" dirty="0">
                <a:ln>
                  <a:noFill/>
                </a:ln>
                <a:solidFill>
                  <a:srgbClr val="000000"/>
                </a:solidFill>
                <a:effectLst/>
                <a:uLnTx/>
                <a:uFillTx/>
                <a:latin typeface="Arial" panose="020B0604020202020204" pitchFamily="34" charset="0"/>
                <a:ea typeface="Arial" panose="020B0604020202020204" pitchFamily="34" charset="0"/>
                <a:cs typeface="Arial" panose="020B0604020202020204" pitchFamily="34" charset="0"/>
              </a:rPr>
              <a:t>Tecnológico Nacional de México</a:t>
            </a:r>
            <a:endParaRPr kumimoji="0" lang="es-MX" sz="12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ctr" defTabSz="914400" rtl="0" eaLnBrk="1" fontAlgn="auto" latinLnBrk="0" hangingPunct="1">
              <a:lnSpc>
                <a:spcPct val="150000"/>
              </a:lnSpc>
              <a:spcBef>
                <a:spcPts val="1200"/>
              </a:spcBef>
              <a:spcAft>
                <a:spcPts val="1200"/>
              </a:spcAft>
              <a:buClrTx/>
              <a:buSzTx/>
              <a:buFontTx/>
              <a:buNone/>
              <a:tabLst/>
              <a:defRPr/>
            </a:pPr>
            <a:r>
              <a:rPr kumimoji="0" lang="es-ES" sz="1200" b="0" i="0" u="none" strike="noStrike" kern="1200" cap="none" spc="0" normalizeH="0" baseline="0" noProof="0" dirty="0">
                <a:ln>
                  <a:noFill/>
                </a:ln>
                <a:solidFill>
                  <a:srgbClr val="000000"/>
                </a:solidFill>
                <a:effectLst/>
                <a:uLnTx/>
                <a:uFillTx/>
                <a:latin typeface="Arial" panose="020B0604020202020204" pitchFamily="34" charset="0"/>
                <a:ea typeface="Arial" panose="020B0604020202020204" pitchFamily="34" charset="0"/>
                <a:cs typeface="Arial" panose="020B0604020202020204" pitchFamily="34" charset="0"/>
              </a:rPr>
              <a:t>Instituto Tecnológico de Frontera Comalapa </a:t>
            </a:r>
            <a:endParaRPr kumimoji="0" lang="es-MX" sz="12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ctr" defTabSz="914400" rtl="0" eaLnBrk="1" fontAlgn="auto" latinLnBrk="0" hangingPunct="1">
              <a:lnSpc>
                <a:spcPct val="150000"/>
              </a:lnSpc>
              <a:spcBef>
                <a:spcPts val="0"/>
              </a:spcBef>
              <a:spcAft>
                <a:spcPts val="800"/>
              </a:spcAft>
              <a:buClrTx/>
              <a:buSzTx/>
              <a:buFontTx/>
              <a:buNone/>
              <a:tabLst/>
              <a:defRPr/>
            </a:pPr>
            <a:r>
              <a:rPr kumimoji="0" lang="es-MX" sz="1200" b="0" i="0" u="none" strike="noStrike" kern="1200" cap="none" spc="0" normalizeH="0" baseline="0" noProof="0" dirty="0">
                <a:ln>
                  <a:noFill/>
                </a:ln>
                <a:solidFill>
                  <a:srgbClr val="000000"/>
                </a:solidFill>
                <a:effectLst/>
                <a:uLnTx/>
                <a:uFillTx/>
                <a:latin typeface="Arial" panose="020B0604020202020204" pitchFamily="34" charset="0"/>
                <a:ea typeface="Arial" panose="020B0604020202020204" pitchFamily="34" charset="0"/>
                <a:cs typeface="Arial" panose="020B0604020202020204" pitchFamily="34" charset="0"/>
              </a:rPr>
              <a:t>Reporte de práctica </a:t>
            </a:r>
          </a:p>
          <a:p>
            <a:pPr marL="0" marR="0" lvl="0" indent="0" algn="ctr" defTabSz="914400" rtl="0" eaLnBrk="1" fontAlgn="auto" latinLnBrk="0" hangingPunct="1">
              <a:lnSpc>
                <a:spcPct val="150000"/>
              </a:lnSpc>
              <a:spcBef>
                <a:spcPts val="0"/>
              </a:spcBef>
              <a:spcAft>
                <a:spcPts val="800"/>
              </a:spcAft>
              <a:buClrTx/>
              <a:buSzTx/>
              <a:buFontTx/>
              <a:buNone/>
              <a:tabLst/>
              <a:defRPr/>
            </a:pPr>
            <a:r>
              <a:rPr kumimoji="0" lang="es-ES" sz="1200" b="0" i="0" u="none" strike="noStrike" kern="1200" cap="none" spc="0" normalizeH="0" baseline="0" noProof="0" dirty="0">
                <a:ln>
                  <a:noFill/>
                </a:ln>
                <a:solidFill>
                  <a:srgbClr val="000000"/>
                </a:solidFill>
                <a:effectLst/>
                <a:uLnTx/>
                <a:uFillTx/>
                <a:latin typeface="Arial" panose="020B0604020202020204" pitchFamily="34" charset="0"/>
                <a:ea typeface="Aptos" panose="020B0004020202020204" pitchFamily="34" charset="0"/>
                <a:cs typeface="Arial" panose="020B0604020202020204" pitchFamily="34" charset="0"/>
              </a:rPr>
              <a:t>Programación web</a:t>
            </a:r>
          </a:p>
          <a:p>
            <a:pPr marL="0" marR="0" lvl="0" indent="0" algn="ctr" defTabSz="914400" rtl="0" eaLnBrk="1" fontAlgn="auto" latinLnBrk="0" hangingPunct="1">
              <a:lnSpc>
                <a:spcPct val="150000"/>
              </a:lnSpc>
              <a:spcBef>
                <a:spcPts val="0"/>
              </a:spcBef>
              <a:spcAft>
                <a:spcPts val="800"/>
              </a:spcAft>
              <a:buClrTx/>
              <a:buSzTx/>
              <a:buFontTx/>
              <a:buNone/>
              <a:tabLst/>
              <a:defRPr/>
            </a:pPr>
            <a:endParaRPr kumimoji="0" lang="es-ES" sz="1200" b="0" i="0" u="none" strike="noStrike" kern="1200" cap="none" spc="0" normalizeH="0" baseline="0" noProof="0" dirty="0">
              <a:ln>
                <a:noFill/>
              </a:ln>
              <a:solidFill>
                <a:srgbClr val="000000"/>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ctr" defTabSz="914400" rtl="0" eaLnBrk="1" fontAlgn="auto" latinLnBrk="0" hangingPunct="1">
              <a:lnSpc>
                <a:spcPct val="150000"/>
              </a:lnSpc>
              <a:spcBef>
                <a:spcPts val="0"/>
              </a:spcBef>
              <a:spcAft>
                <a:spcPts val="800"/>
              </a:spcAft>
              <a:buClrTx/>
              <a:buSzTx/>
              <a:buFontTx/>
              <a:buNone/>
              <a:tabLst/>
              <a:defRPr/>
            </a:pPr>
            <a:r>
              <a:rPr kumimoji="0" lang="es-ES" sz="1200" b="0" i="0" u="none" strike="noStrike" kern="1200" cap="none" spc="0" normalizeH="0" baseline="0" noProof="0" dirty="0">
                <a:ln>
                  <a:noFill/>
                </a:ln>
                <a:solidFill>
                  <a:srgbClr val="000000"/>
                </a:solidFill>
                <a:effectLst/>
                <a:uLnTx/>
                <a:uFillTx/>
                <a:latin typeface="Arial" panose="020B0604020202020204" pitchFamily="34" charset="0"/>
                <a:ea typeface="Arial" panose="020B0604020202020204" pitchFamily="34" charset="0"/>
                <a:cs typeface="Arial" panose="020B0604020202020204" pitchFamily="34" charset="0"/>
              </a:rPr>
              <a:t>Alumna: Gleysi Yoselin Escobedo López</a:t>
            </a:r>
          </a:p>
          <a:p>
            <a:pPr marL="0" marR="0" lvl="0" indent="0" algn="ctr" defTabSz="914400" rtl="0" eaLnBrk="1" fontAlgn="auto" latinLnBrk="0" hangingPunct="1">
              <a:lnSpc>
                <a:spcPct val="150000"/>
              </a:lnSpc>
              <a:spcBef>
                <a:spcPts val="1200"/>
              </a:spcBef>
              <a:spcAft>
                <a:spcPts val="1200"/>
              </a:spcAft>
              <a:buClrTx/>
              <a:buSzTx/>
              <a:buFontTx/>
              <a:buNone/>
              <a:tabLst/>
              <a:defRPr/>
            </a:pPr>
            <a:r>
              <a:rPr kumimoji="0" lang="es-ES" sz="1200" b="0" i="0" u="none" strike="noStrike" kern="1200" cap="none" spc="0" normalizeH="0" baseline="0" noProof="0" dirty="0">
                <a:ln>
                  <a:noFill/>
                </a:ln>
                <a:solidFill>
                  <a:srgbClr val="000000"/>
                </a:solidFill>
                <a:effectLst/>
                <a:uLnTx/>
                <a:uFillTx/>
                <a:latin typeface="Arial" panose="020B0604020202020204" pitchFamily="34" charset="0"/>
                <a:ea typeface="Arial" panose="020B0604020202020204" pitchFamily="34" charset="0"/>
                <a:cs typeface="Arial" panose="020B0604020202020204" pitchFamily="34" charset="0"/>
              </a:rPr>
              <a:t>Semestre: 8</a:t>
            </a:r>
            <a:endParaRPr kumimoji="0" lang="es-MX" sz="1200" b="0" i="0" u="none" strike="noStrike" kern="1200" cap="none" spc="0" normalizeH="0" baseline="0" noProof="0" dirty="0">
              <a:ln>
                <a:noFill/>
              </a:ln>
              <a:solidFill>
                <a:prstClr val="black"/>
              </a:solidFill>
              <a:effectLst/>
              <a:uLnTx/>
              <a:uFillTx/>
              <a:latin typeface="Arial" panose="020B0604020202020204" pitchFamily="34" charset="0"/>
              <a:ea typeface="Arial" panose="020B0604020202020204" pitchFamily="34" charset="0"/>
              <a:cs typeface="Arial" panose="020B0604020202020204" pitchFamily="34" charset="0"/>
            </a:endParaRPr>
          </a:p>
          <a:p>
            <a:pPr marL="0" marR="0" lvl="0" indent="0" algn="ctr" defTabSz="914400" rtl="0" eaLnBrk="1" fontAlgn="auto" latinLnBrk="0" hangingPunct="1">
              <a:lnSpc>
                <a:spcPct val="150000"/>
              </a:lnSpc>
              <a:spcBef>
                <a:spcPts val="1200"/>
              </a:spcBef>
              <a:spcAft>
                <a:spcPts val="1200"/>
              </a:spcAft>
              <a:buClrTx/>
              <a:buSzTx/>
              <a:buFontTx/>
              <a:buNone/>
              <a:tabLst/>
              <a:defRPr/>
            </a:pPr>
            <a:r>
              <a:rPr kumimoji="0" lang="es-ES" sz="1200" b="0" i="0" u="none" strike="noStrike" kern="1200" cap="none" spc="0" normalizeH="0" baseline="0" noProof="0" dirty="0">
                <a:ln>
                  <a:noFill/>
                </a:ln>
                <a:solidFill>
                  <a:srgbClr val="000000"/>
                </a:solidFill>
                <a:effectLst/>
                <a:uLnTx/>
                <a:uFillTx/>
                <a:latin typeface="Arial" panose="020B0604020202020204" pitchFamily="34" charset="0"/>
                <a:ea typeface="Arial" panose="020B0604020202020204" pitchFamily="34" charset="0"/>
                <a:cs typeface="Arial" panose="020B0604020202020204" pitchFamily="34" charset="0"/>
              </a:rPr>
              <a:t>Número de control: 22270456</a:t>
            </a:r>
            <a:endParaRPr kumimoji="0" lang="es-MX" sz="12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ctr" defTabSz="914400" rtl="0" eaLnBrk="1" fontAlgn="auto" latinLnBrk="0" hangingPunct="1">
              <a:lnSpc>
                <a:spcPct val="150000"/>
              </a:lnSpc>
              <a:spcBef>
                <a:spcPts val="1200"/>
              </a:spcBef>
              <a:spcAft>
                <a:spcPts val="1200"/>
              </a:spcAft>
              <a:buClrTx/>
              <a:buSzTx/>
              <a:buFontTx/>
              <a:buNone/>
              <a:tabLst/>
              <a:defRPr/>
            </a:pPr>
            <a:r>
              <a:rPr kumimoji="0" lang="es-ES" sz="1200" b="0" i="0" u="none" strike="noStrike" kern="1200" cap="none" spc="0" normalizeH="0" baseline="0" noProof="0" dirty="0">
                <a:ln>
                  <a:noFill/>
                </a:ln>
                <a:solidFill>
                  <a:srgbClr val="000000"/>
                </a:solidFill>
                <a:effectLst/>
                <a:uLnTx/>
                <a:uFillTx/>
                <a:latin typeface="Arial" panose="020B0604020202020204" pitchFamily="34" charset="0"/>
                <a:ea typeface="Arial" panose="020B0604020202020204" pitchFamily="34" charset="0"/>
                <a:cs typeface="Arial" panose="020B0604020202020204" pitchFamily="34" charset="0"/>
              </a:rPr>
              <a:t>Carrera: Ingeniería en Sistemas Computacionales</a:t>
            </a:r>
            <a:endParaRPr kumimoji="0" lang="es-MX" sz="12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ctr" defTabSz="914400" rtl="0" eaLnBrk="1" fontAlgn="auto" latinLnBrk="0" hangingPunct="1">
              <a:lnSpc>
                <a:spcPct val="150000"/>
              </a:lnSpc>
              <a:spcBef>
                <a:spcPts val="1200"/>
              </a:spcBef>
              <a:spcAft>
                <a:spcPts val="1200"/>
              </a:spcAft>
              <a:buClrTx/>
              <a:buSzTx/>
              <a:buFontTx/>
              <a:buNone/>
              <a:tabLst/>
              <a:defRPr/>
            </a:pPr>
            <a:r>
              <a:rPr kumimoji="0" lang="es-ES" sz="1200" b="0" i="0" u="none" strike="noStrike" kern="1200" cap="none" spc="0" normalizeH="0" baseline="0" noProof="0" dirty="0">
                <a:ln>
                  <a:noFill/>
                </a:ln>
                <a:solidFill>
                  <a:srgbClr val="000000"/>
                </a:solidFill>
                <a:effectLst/>
                <a:uLnTx/>
                <a:uFillTx/>
                <a:latin typeface="Arial" panose="020B0604020202020204" pitchFamily="34" charset="0"/>
                <a:ea typeface="Arial" panose="020B0604020202020204" pitchFamily="34" charset="0"/>
                <a:cs typeface="Arial" panose="020B0604020202020204" pitchFamily="34" charset="0"/>
              </a:rPr>
              <a:t>Docente: Ing. </a:t>
            </a:r>
            <a:r>
              <a:rPr kumimoji="0" lang="es-E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Francisco Javier Velázquez Mingo</a:t>
            </a:r>
            <a:endParaRPr kumimoji="0" lang="es-MX" sz="12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ctr" defTabSz="914400" rtl="0" eaLnBrk="1" fontAlgn="auto" latinLnBrk="0" hangingPunct="1">
              <a:lnSpc>
                <a:spcPct val="150000"/>
              </a:lnSpc>
              <a:spcBef>
                <a:spcPts val="1200"/>
              </a:spcBef>
              <a:spcAft>
                <a:spcPts val="1200"/>
              </a:spcAft>
              <a:buClrTx/>
              <a:buSzTx/>
              <a:buFontTx/>
              <a:buNone/>
              <a:tabLst/>
              <a:defRPr/>
            </a:pPr>
            <a:r>
              <a:rPr kumimoji="0" lang="es-ES" sz="1200" b="0" i="0" u="none" strike="noStrike" kern="1200" cap="none" spc="0" normalizeH="0" baseline="0" noProof="0" dirty="0">
                <a:ln>
                  <a:noFill/>
                </a:ln>
                <a:solidFill>
                  <a:srgbClr val="000000"/>
                </a:solidFill>
                <a:effectLst/>
                <a:uLnTx/>
                <a:uFillTx/>
                <a:latin typeface="Arial" panose="020B0604020202020204" pitchFamily="34" charset="0"/>
                <a:ea typeface="Arial" panose="020B0604020202020204" pitchFamily="34" charset="0"/>
                <a:cs typeface="Arial" panose="020B0604020202020204" pitchFamily="34" charset="0"/>
              </a:rPr>
              <a:t>Fecha de entrega: 12 de junio de 2026</a:t>
            </a:r>
            <a:endParaRPr kumimoji="0" lang="es-MX" sz="12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p:txBody>
      </p:sp>
      <p:pic>
        <p:nvPicPr>
          <p:cNvPr id="5" name="Imagen 4">
            <a:extLst>
              <a:ext uri="{FF2B5EF4-FFF2-40B4-BE49-F238E27FC236}">
                <a16:creationId xmlns:a16="http://schemas.microsoft.com/office/drawing/2014/main" id="{9D4C9BBF-FEB7-426F-9540-01718B54F0DD}"/>
              </a:ext>
            </a:extLst>
          </p:cNvPr>
          <p:cNvPicPr>
            <a:picLocks noChangeAspect="1"/>
          </p:cNvPicPr>
          <p:nvPr/>
        </p:nvPicPr>
        <p:blipFill>
          <a:blip r:embed="rId3">
            <a:extLst>
              <a:ext uri="{28A0092B-C50C-407E-A947-70E740481C1C}">
                <a14:useLocalDpi xmlns:a14="http://schemas.microsoft.com/office/drawing/2010/main" val="0"/>
              </a:ext>
            </a:extLst>
          </a:blip>
          <a:srcRect r="37787" b="6206"/>
          <a:stretch/>
        </p:blipFill>
        <p:spPr>
          <a:xfrm>
            <a:off x="2017468" y="122721"/>
            <a:ext cx="2599700" cy="580650"/>
          </a:xfrm>
          <a:prstGeom prst="rect">
            <a:avLst/>
          </a:prstGeom>
        </p:spPr>
      </p:pic>
      <p:sp>
        <p:nvSpPr>
          <p:cNvPr id="6" name="Marcador de número de diapositiva 5">
            <a:extLst>
              <a:ext uri="{FF2B5EF4-FFF2-40B4-BE49-F238E27FC236}">
                <a16:creationId xmlns:a16="http://schemas.microsoft.com/office/drawing/2014/main" id="{D0B9732A-2E66-4426-B98C-DE2B98A09AB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FAD80A-BD4B-4644-B5A4-99133F8C7605}" type="slidenum">
              <a:rPr kumimoji="0" lang="es-MX"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s-MX"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225955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58E05B76-8C46-41F1-8E3D-E9CCAACF8FAF}"/>
              </a:ext>
            </a:extLst>
          </p:cNvPr>
          <p:cNvSpPr txBox="1"/>
          <p:nvPr/>
        </p:nvSpPr>
        <p:spPr>
          <a:xfrm>
            <a:off x="2412189" y="255658"/>
            <a:ext cx="9305144" cy="10844507"/>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1"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Contenido</a:t>
            </a:r>
          </a:p>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Introducción……………………………………………………………..……………3</a:t>
            </a:r>
          </a:p>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Justificación……………………………………………………………..……………4</a:t>
            </a:r>
          </a:p>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Creación de </a:t>
            </a:r>
            <a:r>
              <a:rPr kumimoji="0" lang="es-MX" sz="1600"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requisitos_documento</a:t>
            </a: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……………………………………….………5</a:t>
            </a:r>
          </a:p>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Inserción de datos en </a:t>
            </a:r>
            <a:r>
              <a:rPr kumimoji="0" lang="es-MX" sz="1600"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requisitos_documento</a:t>
            </a: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…………………………………….6</a:t>
            </a:r>
          </a:p>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Políticas </a:t>
            </a:r>
            <a:r>
              <a:rPr kumimoji="0" lang="es-MX" sz="1600"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requisitos_documento</a:t>
            </a: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……………………………………………………7</a:t>
            </a:r>
          </a:p>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Dashboard</a:t>
            </a: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alumno-Mostrar requisitos……..……...…………..…………………</a:t>
            </a:r>
            <a:r>
              <a:rPr lang="es-MX" sz="1600" dirty="0">
                <a:solidFill>
                  <a:prstClr val="black"/>
                </a:solidFill>
                <a:latin typeface="Arial" panose="020B0604020202020204" pitchFamily="34" charset="0"/>
                <a:ea typeface="Aptos" panose="020B0004020202020204" pitchFamily="34" charset="0"/>
                <a:cs typeface="Arial" panose="020B0604020202020204" pitchFamily="34" charset="0"/>
              </a:rPr>
              <a:t>8-9</a:t>
            </a:r>
          </a:p>
          <a:p>
            <a:pPr algn="just">
              <a:lnSpc>
                <a:spcPct val="150000"/>
              </a:lnSpc>
              <a:spcAft>
                <a:spcPts val="800"/>
              </a:spcAft>
              <a:defRPr/>
            </a:pPr>
            <a:r>
              <a:rPr kumimoji="0" lang="es-MX" sz="1600"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Solicitudes.service</a:t>
            </a:r>
            <a:r>
              <a:rPr lang="es-MX" sz="1600" dirty="0">
                <a:solidFill>
                  <a:prstClr val="black"/>
                </a:solidFill>
                <a:latin typeface="Arial" panose="020B0604020202020204" pitchFamily="34" charset="0"/>
                <a:ea typeface="Aptos" panose="020B0004020202020204" pitchFamily="34" charset="0"/>
                <a:cs typeface="Arial" panose="020B0604020202020204" pitchFamily="34" charset="0"/>
              </a:rPr>
              <a:t>-</a:t>
            </a: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Mostrar requisitos……..……...…………..…………………10-11</a:t>
            </a:r>
          </a:p>
          <a:p>
            <a:pPr algn="just">
              <a:lnSpc>
                <a:spcPct val="150000"/>
              </a:lnSpc>
              <a:spcAft>
                <a:spcPts val="800"/>
              </a:spcAft>
              <a:defRPr/>
            </a:pPr>
            <a:r>
              <a:rPr lang="es-MX" sz="1800" b="0" i="0" kern="1200" spc="0" baseline="0" dirty="0" err="1">
                <a:ln>
                  <a:noFill/>
                </a:ln>
                <a:solidFill>
                  <a:srgbClr val="000000"/>
                </a:solidFill>
                <a:effectLst/>
                <a:latin typeface="Arial" panose="020B0604020202020204" pitchFamily="34" charset="0"/>
                <a:ea typeface="Aptos" panose="020B0004020202020204"/>
                <a:cs typeface="Arial" panose="020B0604020202020204" pitchFamily="34" charset="0"/>
              </a:rPr>
              <a:t>Dashboard</a:t>
            </a:r>
            <a:r>
              <a:rPr lang="es-MX" sz="1800" b="0" i="0" kern="1200" spc="0" baseline="0" dirty="0">
                <a:ln>
                  <a:noFill/>
                </a:ln>
                <a:solidFill>
                  <a:srgbClr val="000000"/>
                </a:solidFill>
                <a:effectLst/>
                <a:latin typeface="Arial" panose="020B0604020202020204" pitchFamily="34" charset="0"/>
                <a:ea typeface="Aptos" panose="020B0004020202020204"/>
                <a:cs typeface="Arial" panose="020B0604020202020204" pitchFamily="34" charset="0"/>
              </a:rPr>
              <a:t> Alumno-Mostrar estado de solicitudes….…………………</a:t>
            </a:r>
            <a:r>
              <a:rPr lang="es-MX" b="0" i="0" spc="0" baseline="0" dirty="0">
                <a:ln>
                  <a:noFill/>
                </a:ln>
                <a:solidFill>
                  <a:srgbClr val="000000"/>
                </a:solidFill>
                <a:latin typeface="Arial" panose="020B0604020202020204" pitchFamily="34" charset="0"/>
                <a:ea typeface="Aptos" panose="020B0004020202020204"/>
                <a:cs typeface="Arial" panose="020B0604020202020204" pitchFamily="34" charset="0"/>
              </a:rPr>
              <a:t>12</a:t>
            </a:r>
          </a:p>
          <a:p>
            <a:pPr algn="just">
              <a:lnSpc>
                <a:spcPct val="150000"/>
              </a:lnSpc>
              <a:spcAft>
                <a:spcPts val="800"/>
              </a:spcAft>
              <a:defRPr/>
            </a:pPr>
            <a:r>
              <a:rPr lang="es-MX" sz="1800" b="0" i="0" kern="1200" spc="0" baseline="0" dirty="0">
                <a:ln>
                  <a:noFill/>
                </a:ln>
                <a:solidFill>
                  <a:srgbClr val="000000"/>
                </a:solidFill>
                <a:effectLst/>
                <a:latin typeface="Arial" panose="020B0604020202020204" pitchFamily="34" charset="0"/>
                <a:ea typeface="Aptos" panose="020B0004020202020204"/>
                <a:cs typeface="Arial" panose="020B0604020202020204" pitchFamily="34" charset="0"/>
              </a:rPr>
              <a:t>Enviar requisitos solicitados………..……...…………..…………………</a:t>
            </a:r>
            <a:r>
              <a:rPr lang="es-MX" b="0" i="0" spc="0" baseline="0" dirty="0">
                <a:ln>
                  <a:noFill/>
                </a:ln>
                <a:solidFill>
                  <a:srgbClr val="000000"/>
                </a:solidFill>
                <a:latin typeface="Arial" panose="020B0604020202020204" pitchFamily="34" charset="0"/>
                <a:ea typeface="Aptos" panose="020B0004020202020204"/>
                <a:cs typeface="Arial" panose="020B0604020202020204" pitchFamily="34" charset="0"/>
              </a:rPr>
              <a:t>13-14</a:t>
            </a:r>
            <a:endParaRPr lang="es-MX" sz="1600" dirty="0">
              <a:effectLst/>
            </a:endParaRPr>
          </a:p>
          <a:p>
            <a:pPr algn="just">
              <a:lnSpc>
                <a:spcPct val="150000"/>
              </a:lnSpc>
              <a:spcAft>
                <a:spcPts val="800"/>
              </a:spcAft>
              <a:defRPr/>
            </a:pPr>
            <a:r>
              <a:rPr lang="es-MX" sz="1800" b="0" i="0" kern="1200" spc="0" baseline="0" dirty="0">
                <a:ln>
                  <a:noFill/>
                </a:ln>
                <a:solidFill>
                  <a:srgbClr val="000000"/>
                </a:solidFill>
                <a:effectLst/>
                <a:latin typeface="Arial" panose="020B0604020202020204" pitchFamily="34" charset="0"/>
                <a:ea typeface="Aptos" panose="020B0004020202020204"/>
                <a:cs typeface="Arial" panose="020B0604020202020204" pitchFamily="34" charset="0"/>
              </a:rPr>
              <a:t>Despliegue en Azure………………..……...…………..…………………</a:t>
            </a:r>
            <a:r>
              <a:rPr lang="es-MX" b="0" i="0" spc="0" baseline="0" dirty="0">
                <a:ln>
                  <a:noFill/>
                </a:ln>
                <a:solidFill>
                  <a:srgbClr val="000000"/>
                </a:solidFill>
                <a:latin typeface="Arial" panose="020B0604020202020204" pitchFamily="34" charset="0"/>
                <a:ea typeface="Aptos" panose="020B0004020202020204"/>
                <a:cs typeface="Arial" panose="020B0604020202020204" pitchFamily="34" charset="0"/>
              </a:rPr>
              <a:t>15-21</a:t>
            </a:r>
            <a:endPar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Conclusión…………………………………………………………………………....</a:t>
            </a:r>
            <a:r>
              <a:rPr lang="es-MX" sz="1600" dirty="0">
                <a:solidFill>
                  <a:prstClr val="black"/>
                </a:solidFill>
                <a:latin typeface="Arial" panose="020B0604020202020204" pitchFamily="34" charset="0"/>
                <a:ea typeface="Aptos" panose="020B0004020202020204" pitchFamily="34" charset="0"/>
                <a:cs typeface="Arial" panose="020B0604020202020204" pitchFamily="34" charset="0"/>
              </a:rPr>
              <a:t>22</a:t>
            </a:r>
            <a:endPar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Fuentes de información………………………..…………………………………....</a:t>
            </a:r>
            <a:r>
              <a:rPr lang="es-MX" sz="1600" dirty="0">
                <a:solidFill>
                  <a:prstClr val="black"/>
                </a:solidFill>
                <a:latin typeface="Arial" panose="020B0604020202020204" pitchFamily="34" charset="0"/>
                <a:ea typeface="Aptos" panose="020B0004020202020204" pitchFamily="34" charset="0"/>
                <a:cs typeface="Arial" panose="020B0604020202020204" pitchFamily="34" charset="0"/>
              </a:rPr>
              <a:t>23</a:t>
            </a:r>
            <a:endPar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endPar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endPar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endPar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endParaRPr kumimoji="0" lang="es-MX" sz="1600" b="1"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endParaRPr kumimoji="0" lang="es-ES"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endParaRPr kumimoji="0" lang="es-ES"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endParaRPr kumimoji="0" lang="es-ES" sz="14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endParaRPr kumimoji="0" lang="es-ES" sz="14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endParaRPr kumimoji="0" lang="es-ES"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endPar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p:txBody>
      </p:sp>
      <p:sp>
        <p:nvSpPr>
          <p:cNvPr id="3" name="Marcador de número de diapositiva 2">
            <a:extLst>
              <a:ext uri="{FF2B5EF4-FFF2-40B4-BE49-F238E27FC236}">
                <a16:creationId xmlns:a16="http://schemas.microsoft.com/office/drawing/2014/main" id="{D0658A4E-72AE-4243-BE78-EB0ECDB469D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4A6827-6711-499C-91D6-E14C610205BC}" type="slidenum">
              <a:rPr kumimoji="0" lang="es-MX"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s-MX"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815734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B0CE0191-9C54-491F-AFCD-659839E54898}"/>
              </a:ext>
            </a:extLst>
          </p:cNvPr>
          <p:cNvSpPr txBox="1"/>
          <p:nvPr/>
        </p:nvSpPr>
        <p:spPr>
          <a:xfrm>
            <a:off x="1578009" y="1261960"/>
            <a:ext cx="9305144" cy="3421449"/>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1"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Introducción</a:t>
            </a: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El presente reporte describe el avance final y despliegue del proyecto  "</a:t>
            </a:r>
            <a:r>
              <a:rPr kumimoji="0" lang="es-MX" sz="1800" b="0" i="0" u="none" strike="noStrike" kern="1200" cap="none" spc="0" normalizeH="0" baseline="0" noProof="0" dirty="0" err="1">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SolicitaTec</a:t>
            </a:r>
            <a:r>
              <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 una aplicación web diseñada para la gestión y solicitud de documentos académicos en el Instituto Tecnológico de Frontera Comalapa. En esta fase del desarrollo, el enfoque principal consistió en mejorar y asegurar la interacción entre el usuario y el sistema mediante la implementación de una base de datos dinámica en </a:t>
            </a:r>
            <a:r>
              <a:rPr kumimoji="0" lang="es-MX" sz="1800" b="0" i="0" u="none" strike="noStrike" kern="1200" cap="none" spc="0" normalizeH="0" baseline="0" noProof="0" dirty="0" err="1">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Supabase</a:t>
            </a:r>
            <a:r>
              <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 para el manejo de requisitos específicos por trámite. Asimismo, se terminó con el despliegue de la infraestructura en la plataforma Microsoft Azure, el documento el procedimiento seguido.</a:t>
            </a:r>
            <a:endParaRPr kumimoji="0" lang="es-MX" sz="12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p:txBody>
      </p:sp>
      <p:sp>
        <p:nvSpPr>
          <p:cNvPr id="3" name="Marcador de número de diapositiva 2">
            <a:extLst>
              <a:ext uri="{FF2B5EF4-FFF2-40B4-BE49-F238E27FC236}">
                <a16:creationId xmlns:a16="http://schemas.microsoft.com/office/drawing/2014/main" id="{C0844D1A-B0B6-46CC-A6F2-230A2CC20DD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2C58D8-1624-4D54-ACD0-789AEADE08C3}" type="slidenum">
              <a:rPr kumimoji="0" lang="es-MX"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s-MX"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204468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E69FE783-E8E1-4393-A7C7-9A7FFD018D1D}"/>
              </a:ext>
            </a:extLst>
          </p:cNvPr>
          <p:cNvSpPr txBox="1"/>
          <p:nvPr/>
        </p:nvSpPr>
        <p:spPr>
          <a:xfrm>
            <a:off x="1559542" y="1304383"/>
            <a:ext cx="9305144" cy="3473259"/>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1"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Justificación</a:t>
            </a:r>
          </a:p>
          <a:p>
            <a:pPr marL="0" marR="0" lvl="0" indent="0" algn="just" defTabSz="914400" rtl="0" eaLnBrk="1" fontAlgn="auto" latinLnBrk="0" hangingPunct="1">
              <a:lnSpc>
                <a:spcPct val="150000"/>
              </a:lnSpc>
              <a:spcBef>
                <a:spcPts val="0"/>
              </a:spcBef>
              <a:spcAft>
                <a:spcPts val="800"/>
              </a:spcAft>
              <a:buClrTx/>
              <a:buSzTx/>
              <a:buFontTx/>
              <a:buNone/>
              <a:tabLst/>
              <a:defRPr/>
            </a:pPr>
            <a:r>
              <a:rPr lang="es-MX" sz="1600" dirty="0">
                <a:solidFill>
                  <a:prstClr val="black"/>
                </a:solidFill>
                <a:latin typeface="Arial" panose="020B0604020202020204" pitchFamily="34" charset="0"/>
                <a:cs typeface="Arial" panose="020B0604020202020204" pitchFamily="34" charset="0"/>
              </a:rPr>
              <a:t>L</a:t>
            </a: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 creación de la aplicación web </a:t>
            </a:r>
            <a:r>
              <a:rPr kumimoji="0" lang="es-MX"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SolicitaTec</a:t>
            </a: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surge de la necesidad de modernizar este proceso dentro del Instituto Tecnológico de Frontera Comalapa. La importancia de este proyecto radica en su capacidad para transformar una gestión tradicional, brindando accesibilidad total para que los alumnos consulten requisitos y suban documentación desde cualquier lugar, al mismo tiempo que permite el seguimiento en tiempo real de los estados de cada trámite, para tener la certeza de cuándo estará listo. Para el desarrollo de este proyecto se utilizó el </a:t>
            </a:r>
            <a:r>
              <a:rPr kumimoji="0" lang="es-MX"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framework</a:t>
            </a: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Angular para una interfaz de usuario dinámica, para el </a:t>
            </a:r>
            <a:r>
              <a:rPr kumimoji="0" lang="es-MX"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backend</a:t>
            </a: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se integró </a:t>
            </a:r>
            <a:r>
              <a:rPr kumimoji="0" lang="es-MX"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Supabase</a:t>
            </a: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que permitió estructurar las reglas y requisitos específicos de cada documento.</a:t>
            </a:r>
            <a:endPar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p:txBody>
      </p:sp>
      <p:sp>
        <p:nvSpPr>
          <p:cNvPr id="3" name="Marcador de número de diapositiva 2">
            <a:extLst>
              <a:ext uri="{FF2B5EF4-FFF2-40B4-BE49-F238E27FC236}">
                <a16:creationId xmlns:a16="http://schemas.microsoft.com/office/drawing/2014/main" id="{956A23CC-72DB-482E-A641-B0ED1127D5F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FAD80A-BD4B-4644-B5A4-99133F8C7605}" type="slidenum">
              <a:rPr kumimoji="0" lang="es-MX"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s-MX"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206294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E1FDCDFF-7A3D-4E38-86FC-8F7F48746273}"/>
              </a:ext>
            </a:extLst>
          </p:cNvPr>
          <p:cNvPicPr>
            <a:picLocks noChangeAspect="1"/>
          </p:cNvPicPr>
          <p:nvPr/>
        </p:nvPicPr>
        <p:blipFill rotWithShape="1">
          <a:blip r:embed="rId2"/>
          <a:srcRect l="6112" t="4496" r="773" b="6745"/>
          <a:stretch/>
        </p:blipFill>
        <p:spPr>
          <a:xfrm>
            <a:off x="6717251" y="627342"/>
            <a:ext cx="5093607" cy="2729753"/>
          </a:xfrm>
          <a:prstGeom prst="rect">
            <a:avLst/>
          </a:prstGeom>
        </p:spPr>
      </p:pic>
      <p:pic>
        <p:nvPicPr>
          <p:cNvPr id="7" name="Imagen 6">
            <a:extLst>
              <a:ext uri="{FF2B5EF4-FFF2-40B4-BE49-F238E27FC236}">
                <a16:creationId xmlns:a16="http://schemas.microsoft.com/office/drawing/2014/main" id="{070E0C53-CE7B-45EE-A9ED-CB2312F710D9}"/>
              </a:ext>
            </a:extLst>
          </p:cNvPr>
          <p:cNvPicPr>
            <a:picLocks noChangeAspect="1"/>
          </p:cNvPicPr>
          <p:nvPr/>
        </p:nvPicPr>
        <p:blipFill rotWithShape="1">
          <a:blip r:embed="rId3"/>
          <a:srcRect l="21548" t="14136" b="5001"/>
          <a:stretch/>
        </p:blipFill>
        <p:spPr>
          <a:xfrm>
            <a:off x="7355542" y="3774515"/>
            <a:ext cx="4455316" cy="2581835"/>
          </a:xfrm>
          <a:prstGeom prst="rect">
            <a:avLst/>
          </a:prstGeom>
        </p:spPr>
      </p:pic>
      <p:sp>
        <p:nvSpPr>
          <p:cNvPr id="8" name="Marcador de número de diapositiva 7">
            <a:extLst>
              <a:ext uri="{FF2B5EF4-FFF2-40B4-BE49-F238E27FC236}">
                <a16:creationId xmlns:a16="http://schemas.microsoft.com/office/drawing/2014/main" id="{197D1D81-AAD6-4B14-AFF4-9DFBDE37F824}"/>
              </a:ext>
            </a:extLst>
          </p:cNvPr>
          <p:cNvSpPr>
            <a:spLocks noGrp="1"/>
          </p:cNvSpPr>
          <p:nvPr>
            <p:ph type="sldNum" sz="quarter" idx="12"/>
          </p:nvPr>
        </p:nvSpPr>
        <p:spPr/>
        <p:txBody>
          <a:bodyPr/>
          <a:lstStyle/>
          <a:p>
            <a:fld id="{90A5DFEB-E07E-4B57-AD4A-E6E5A3B83734}" type="slidenum">
              <a:rPr lang="es-MX" smtClean="0"/>
              <a:t>5</a:t>
            </a:fld>
            <a:endParaRPr lang="es-MX"/>
          </a:p>
        </p:txBody>
      </p:sp>
      <p:sp>
        <p:nvSpPr>
          <p:cNvPr id="9" name="CuadroTexto 8">
            <a:extLst>
              <a:ext uri="{FF2B5EF4-FFF2-40B4-BE49-F238E27FC236}">
                <a16:creationId xmlns:a16="http://schemas.microsoft.com/office/drawing/2014/main" id="{6D01E51C-8E4B-4736-A160-4F62493D3029}"/>
              </a:ext>
            </a:extLst>
          </p:cNvPr>
          <p:cNvSpPr txBox="1"/>
          <p:nvPr/>
        </p:nvSpPr>
        <p:spPr>
          <a:xfrm>
            <a:off x="475271" y="627342"/>
            <a:ext cx="5879051" cy="6632585"/>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800"/>
              </a:spcAft>
              <a:buClrTx/>
              <a:buSzTx/>
              <a:buFontTx/>
              <a:buNone/>
              <a:tabLst/>
              <a:defRPr/>
            </a:pPr>
            <a:r>
              <a:rPr lang="es-MX" sz="1600" b="1" dirty="0">
                <a:solidFill>
                  <a:prstClr val="black"/>
                </a:solidFill>
                <a:latin typeface="Arial" panose="020B0604020202020204" pitchFamily="34" charset="0"/>
                <a:ea typeface="Aptos" panose="020B0004020202020204" pitchFamily="34" charset="0"/>
                <a:cs typeface="Arial" panose="020B0604020202020204" pitchFamily="34" charset="0"/>
              </a:rPr>
              <a:t>C</a:t>
            </a:r>
            <a:r>
              <a:rPr kumimoji="0" lang="es-MX" sz="1600" b="1"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reación</a:t>
            </a:r>
            <a:r>
              <a:rPr kumimoji="0" lang="es-MX" sz="1600" b="1"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de </a:t>
            </a:r>
            <a:r>
              <a:rPr kumimoji="0" lang="es-MX" sz="1600" b="1"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requisitos_documento</a:t>
            </a:r>
            <a:r>
              <a:rPr kumimoji="0" lang="es-MX" sz="1600" b="1"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a:t>
            </a: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endParaRPr>
          </a:p>
          <a:p>
            <a:pPr marL="342900" marR="0" lvl="0" indent="-342900" algn="just" defTabSz="914400" rtl="0" eaLnBrk="1" fontAlgn="auto" latinLnBrk="0" hangingPunct="1">
              <a:lnSpc>
                <a:spcPct val="150000"/>
              </a:lnSpc>
              <a:spcBef>
                <a:spcPts val="0"/>
              </a:spcBef>
              <a:spcAft>
                <a:spcPts val="800"/>
              </a:spcAft>
              <a:buClrTx/>
              <a:buSzTx/>
              <a:buFontTx/>
              <a:buAutoNum type="arabicPeriod"/>
              <a:tabLst/>
              <a:defRPr/>
            </a:pPr>
            <a:r>
              <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Para añadir más funcionalidades a la  aplicación web se creó una nueva tabla “”</a:t>
            </a:r>
            <a:r>
              <a:rPr kumimoji="0" lang="es-MX" sz="1800" b="0" i="0" u="none" strike="noStrike" kern="1200" cap="none" spc="0" normalizeH="0" baseline="0" noProof="0" dirty="0" err="1">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requisitos_documentos</a:t>
            </a:r>
            <a:r>
              <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a:t>
            </a:r>
          </a:p>
          <a:p>
            <a:pPr marL="342900" marR="0" lvl="0" indent="-342900" algn="just" defTabSz="914400" rtl="0" eaLnBrk="1" fontAlgn="auto" latinLnBrk="0" hangingPunct="1">
              <a:lnSpc>
                <a:spcPct val="150000"/>
              </a:lnSpc>
              <a:spcBef>
                <a:spcPts val="0"/>
              </a:spcBef>
              <a:spcAft>
                <a:spcPts val="800"/>
              </a:spcAft>
              <a:buClrTx/>
              <a:buSzTx/>
              <a:buFontTx/>
              <a:buAutoNum type="arabicPeriod"/>
              <a:tabLst/>
              <a:defRPr/>
            </a:pPr>
            <a:r>
              <a:rPr lang="es-MX" dirty="0">
                <a:solidFill>
                  <a:prstClr val="black"/>
                </a:solidFill>
                <a:latin typeface="Arial" panose="020B0604020202020204" pitchFamily="34" charset="0"/>
                <a:ea typeface="Calibri" panose="020F0502020204030204" pitchFamily="34" charset="0"/>
                <a:cs typeface="Arial" panose="020B0604020202020204" pitchFamily="34" charset="0"/>
              </a:rPr>
              <a:t>La tabla cuenta con tres columnas:</a:t>
            </a:r>
          </a:p>
          <a:p>
            <a:pPr marL="342900" marR="0" lvl="0" indent="-342900" algn="just" defTabSz="914400" rtl="0" eaLnBrk="1" fontAlgn="auto" latinLnBrk="0" hangingPunct="1">
              <a:lnSpc>
                <a:spcPct val="150000"/>
              </a:lnSpc>
              <a:spcBef>
                <a:spcPts val="0"/>
              </a:spcBef>
              <a:spcAft>
                <a:spcPts val="800"/>
              </a:spcAft>
              <a:buClrTx/>
              <a:buSzTx/>
              <a:buFont typeface="Arial" panose="020B0604020202020204" pitchFamily="34" charset="0"/>
              <a:buChar char="•"/>
              <a:tabLst/>
              <a:defRPr/>
            </a:pPr>
            <a:r>
              <a:rPr lang="es-MX" dirty="0">
                <a:solidFill>
                  <a:prstClr val="black"/>
                </a:solidFill>
                <a:latin typeface="Arial" panose="020B0604020202020204" pitchFamily="34" charset="0"/>
                <a:ea typeface="Calibri" panose="020F0502020204030204" pitchFamily="34" charset="0"/>
                <a:cs typeface="Arial" panose="020B0604020202020204" pitchFamily="34" charset="0"/>
              </a:rPr>
              <a:t>Id</a:t>
            </a:r>
          </a:p>
          <a:p>
            <a:pPr marL="342900" marR="0" lvl="0" indent="-342900" algn="just" defTabSz="914400" rtl="0" eaLnBrk="1" fontAlgn="auto" latinLnBrk="0" hangingPunct="1">
              <a:lnSpc>
                <a:spcPct val="150000"/>
              </a:lnSpc>
              <a:spcBef>
                <a:spcPts val="0"/>
              </a:spcBef>
              <a:spcAft>
                <a:spcPts val="800"/>
              </a:spcAft>
              <a:buClrTx/>
              <a:buSzTx/>
              <a:buFont typeface="Arial" panose="020B0604020202020204" pitchFamily="34" charset="0"/>
              <a:buChar char="•"/>
              <a:tabLst/>
              <a:defRPr/>
            </a:pPr>
            <a:r>
              <a:rPr lang="es-MX" dirty="0" err="1">
                <a:solidFill>
                  <a:prstClr val="black"/>
                </a:solidFill>
                <a:latin typeface="Arial" panose="020B0604020202020204" pitchFamily="34" charset="0"/>
                <a:ea typeface="Calibri" panose="020F0502020204030204" pitchFamily="34" charset="0"/>
                <a:cs typeface="Arial" panose="020B0604020202020204" pitchFamily="34" charset="0"/>
              </a:rPr>
              <a:t>Tipo_documento</a:t>
            </a:r>
            <a:endParaRPr lang="es-MX" dirty="0">
              <a:solidFill>
                <a:prstClr val="black"/>
              </a:solidFill>
              <a:latin typeface="Arial" panose="020B0604020202020204" pitchFamily="34" charset="0"/>
              <a:ea typeface="Calibri" panose="020F0502020204030204" pitchFamily="34" charset="0"/>
              <a:cs typeface="Arial" panose="020B0604020202020204" pitchFamily="34" charset="0"/>
            </a:endParaRPr>
          </a:p>
          <a:p>
            <a:pPr marL="342900" marR="0" lvl="0" indent="-342900" algn="just" defTabSz="914400" rtl="0" eaLnBrk="1" fontAlgn="auto" latinLnBrk="0" hangingPunct="1">
              <a:lnSpc>
                <a:spcPct val="150000"/>
              </a:lnSpc>
              <a:spcBef>
                <a:spcPts val="0"/>
              </a:spcBef>
              <a:spcAft>
                <a:spcPts val="800"/>
              </a:spcAft>
              <a:buClrTx/>
              <a:buSzTx/>
              <a:buFont typeface="Arial" panose="020B0604020202020204" pitchFamily="34" charset="0"/>
              <a:buChar char="•"/>
              <a:tabLst/>
              <a:defRPr/>
            </a:pPr>
            <a:r>
              <a:rPr lang="es-MX" dirty="0">
                <a:solidFill>
                  <a:prstClr val="black"/>
                </a:solidFill>
                <a:latin typeface="Arial" panose="020B0604020202020204" pitchFamily="34" charset="0"/>
                <a:ea typeface="Calibri" panose="020F0502020204030204" pitchFamily="34" charset="0"/>
                <a:cs typeface="Arial" panose="020B0604020202020204" pitchFamily="34" charset="0"/>
              </a:rPr>
              <a:t>Requisito</a:t>
            </a:r>
          </a:p>
          <a:p>
            <a:pPr marR="0" lvl="0" algn="just" defTabSz="914400" rtl="0" eaLnBrk="1" fontAlgn="auto" latinLnBrk="0" hangingPunct="1">
              <a:lnSpc>
                <a:spcPct val="150000"/>
              </a:lnSpc>
              <a:spcBef>
                <a:spcPts val="0"/>
              </a:spcBef>
              <a:spcAft>
                <a:spcPts val="800"/>
              </a:spcAft>
              <a:buClrTx/>
              <a:buSzTx/>
              <a:tabLst/>
              <a:defRPr/>
            </a:pPr>
            <a:endParaRPr lang="es-MX" dirty="0">
              <a:solidFill>
                <a:prstClr val="black"/>
              </a:solidFill>
              <a:latin typeface="Arial" panose="020B0604020202020204" pitchFamily="34" charset="0"/>
              <a:ea typeface="Calibri" panose="020F0502020204030204" pitchFamily="34" charset="0"/>
              <a:cs typeface="Arial" panose="020B0604020202020204" pitchFamily="34" charset="0"/>
            </a:endParaRPr>
          </a:p>
          <a:p>
            <a:pPr marR="0" lvl="0" algn="just" defTabSz="914400" rtl="0" eaLnBrk="1" fontAlgn="auto" latinLnBrk="0" hangingPunct="1">
              <a:lnSpc>
                <a:spcPct val="150000"/>
              </a:lnSpc>
              <a:spcBef>
                <a:spcPts val="0"/>
              </a:spcBef>
              <a:spcAft>
                <a:spcPts val="800"/>
              </a:spcAft>
              <a:buClrTx/>
              <a:buSzTx/>
              <a:tabLst/>
              <a:defRPr/>
            </a:pPr>
            <a:r>
              <a:rPr lang="es-MX" dirty="0">
                <a:solidFill>
                  <a:prstClr val="black"/>
                </a:solidFill>
                <a:latin typeface="Arial" panose="020B0604020202020204" pitchFamily="34" charset="0"/>
                <a:ea typeface="Calibri" panose="020F0502020204030204" pitchFamily="34" charset="0"/>
                <a:cs typeface="Arial" panose="020B0604020202020204" pitchFamily="34" charset="0"/>
              </a:rPr>
              <a:t>Esta tabla será encargada de mantener almacenado los requisitos para la solicitud de cualquier documento para mostrarlo en pantalla cuando el alumno hace la solicitud.</a:t>
            </a:r>
          </a:p>
          <a:p>
            <a:pPr marR="0" lvl="0" algn="r" defTabSz="914400" rtl="0" eaLnBrk="1" fontAlgn="auto" latinLnBrk="0" hangingPunct="1">
              <a:lnSpc>
                <a:spcPct val="150000"/>
              </a:lnSpc>
              <a:spcBef>
                <a:spcPts val="0"/>
              </a:spcBef>
              <a:spcAft>
                <a:spcPts val="800"/>
              </a:spcAft>
              <a:buClrTx/>
              <a:buSzTx/>
              <a:tabLst/>
              <a:defRPr/>
            </a:pPr>
            <a:r>
              <a:rPr lang="es-MX" dirty="0">
                <a:solidFill>
                  <a:prstClr val="black"/>
                </a:solidFill>
                <a:latin typeface="Arial" panose="020B0604020202020204" pitchFamily="34" charset="0"/>
                <a:ea typeface="Calibri" panose="020F0502020204030204" pitchFamily="34" charset="0"/>
                <a:cs typeface="Arial" panose="020B0604020202020204" pitchFamily="34" charset="0"/>
              </a:rPr>
              <a:t> </a:t>
            </a:r>
            <a:r>
              <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  </a:t>
            </a:r>
            <a:endParaRPr kumimoji="0" lang="es-MX" sz="12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26636762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arcador de número de diapositiva 7">
            <a:extLst>
              <a:ext uri="{FF2B5EF4-FFF2-40B4-BE49-F238E27FC236}">
                <a16:creationId xmlns:a16="http://schemas.microsoft.com/office/drawing/2014/main" id="{197D1D81-AAD6-4B14-AFF4-9DFBDE37F824}"/>
              </a:ext>
            </a:extLst>
          </p:cNvPr>
          <p:cNvSpPr>
            <a:spLocks noGrp="1"/>
          </p:cNvSpPr>
          <p:nvPr>
            <p:ph type="sldNum" sz="quarter" idx="12"/>
          </p:nvPr>
        </p:nvSpPr>
        <p:spPr/>
        <p:txBody>
          <a:bodyPr/>
          <a:lstStyle/>
          <a:p>
            <a:fld id="{90A5DFEB-E07E-4B57-AD4A-E6E5A3B83734}" type="slidenum">
              <a:rPr lang="es-MX" smtClean="0"/>
              <a:t>6</a:t>
            </a:fld>
            <a:endParaRPr lang="es-MX"/>
          </a:p>
        </p:txBody>
      </p:sp>
      <p:sp>
        <p:nvSpPr>
          <p:cNvPr id="9" name="CuadroTexto 8">
            <a:extLst>
              <a:ext uri="{FF2B5EF4-FFF2-40B4-BE49-F238E27FC236}">
                <a16:creationId xmlns:a16="http://schemas.microsoft.com/office/drawing/2014/main" id="{6D01E51C-8E4B-4736-A160-4F62493D3029}"/>
              </a:ext>
            </a:extLst>
          </p:cNvPr>
          <p:cNvSpPr txBox="1"/>
          <p:nvPr/>
        </p:nvSpPr>
        <p:spPr>
          <a:xfrm>
            <a:off x="1592871" y="817842"/>
            <a:ext cx="9964129" cy="3313728"/>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800"/>
              </a:spcAft>
              <a:buClrTx/>
              <a:buSzTx/>
              <a:buFontTx/>
              <a:buNone/>
              <a:tabLst/>
              <a:defRPr/>
            </a:pPr>
            <a:r>
              <a:rPr lang="es-MX" sz="1600" b="1" dirty="0">
                <a:solidFill>
                  <a:prstClr val="black"/>
                </a:solidFill>
                <a:latin typeface="Arial" panose="020B0604020202020204" pitchFamily="34" charset="0"/>
                <a:ea typeface="Aptos" panose="020B0004020202020204" pitchFamily="34" charset="0"/>
                <a:cs typeface="Arial" panose="020B0604020202020204" pitchFamily="34" charset="0"/>
              </a:rPr>
              <a:t>Inserción de datos en </a:t>
            </a:r>
            <a:r>
              <a:rPr kumimoji="0" lang="es-MX" sz="1600" b="1"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requisitos_documento</a:t>
            </a:r>
            <a:r>
              <a:rPr kumimoji="0" lang="es-MX" sz="1600" b="1"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a:t>
            </a: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endParaRPr>
          </a:p>
          <a:p>
            <a:pPr marL="342900" marR="0" lvl="0" indent="-342900" algn="just" defTabSz="914400" rtl="0" eaLnBrk="1" fontAlgn="auto" latinLnBrk="0" hangingPunct="1">
              <a:lnSpc>
                <a:spcPct val="150000"/>
              </a:lnSpc>
              <a:spcBef>
                <a:spcPts val="0"/>
              </a:spcBef>
              <a:spcAft>
                <a:spcPts val="800"/>
              </a:spcAft>
              <a:buClrTx/>
              <a:buSzTx/>
              <a:buFontTx/>
              <a:buAutoNum type="arabicPeriod"/>
              <a:tabLst/>
              <a:defRPr/>
            </a:pPr>
            <a:r>
              <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Los datos para esta tabla se añadieron directamente en </a:t>
            </a:r>
            <a:r>
              <a:rPr kumimoji="0" lang="es-MX" sz="1800" b="0" i="0" u="none" strike="noStrike" kern="1200" cap="none" spc="0" normalizeH="0" baseline="0" noProof="0" dirty="0" err="1">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supabase</a:t>
            </a:r>
            <a:r>
              <a:rPr lang="es-MX" dirty="0">
                <a:solidFill>
                  <a:prstClr val="black"/>
                </a:solidFill>
                <a:latin typeface="Arial" panose="020B0604020202020204" pitchFamily="34" charset="0"/>
                <a:ea typeface="Calibri" panose="020F0502020204030204" pitchFamily="34" charset="0"/>
                <a:cs typeface="Arial" panose="020B0604020202020204" pitchFamily="34" charset="0"/>
              </a:rPr>
              <a:t>.</a:t>
            </a:r>
          </a:p>
          <a:p>
            <a:pPr marL="342900" marR="0" lvl="0" indent="-342900" algn="just" defTabSz="914400" rtl="0" eaLnBrk="1" fontAlgn="auto" latinLnBrk="0" hangingPunct="1">
              <a:lnSpc>
                <a:spcPct val="150000"/>
              </a:lnSpc>
              <a:spcBef>
                <a:spcPts val="0"/>
              </a:spcBef>
              <a:spcAft>
                <a:spcPts val="800"/>
              </a:spcAft>
              <a:buClrTx/>
              <a:buSzTx/>
              <a:buFontTx/>
              <a:buAutoNum type="arabicPeriod"/>
              <a:tabLst/>
              <a:defRPr/>
            </a:pPr>
            <a:r>
              <a:rPr lang="es-MX" dirty="0">
                <a:solidFill>
                  <a:prstClr val="black"/>
                </a:solidFill>
                <a:latin typeface="Arial" panose="020B0604020202020204" pitchFamily="34" charset="0"/>
                <a:ea typeface="Calibri" panose="020F0502020204030204" pitchFamily="34" charset="0"/>
                <a:cs typeface="Arial" panose="020B0604020202020204" pitchFamily="34" charset="0"/>
              </a:rPr>
              <a:t>En cada fila se especificó el tipo de documento y el requisito, en caso de existir más de un requisito se debe incluir uno por fila.</a:t>
            </a:r>
          </a:p>
          <a:p>
            <a:pPr marL="342900" marR="0" lvl="0" indent="-342900" algn="just" defTabSz="914400" rtl="0" eaLnBrk="1" fontAlgn="auto" latinLnBrk="0" hangingPunct="1">
              <a:lnSpc>
                <a:spcPct val="150000"/>
              </a:lnSpc>
              <a:spcBef>
                <a:spcPts val="0"/>
              </a:spcBef>
              <a:spcAft>
                <a:spcPts val="800"/>
              </a:spcAft>
              <a:buClrTx/>
              <a:buSzTx/>
              <a:buFontTx/>
              <a:buAutoNum type="arabicPeriod"/>
              <a:tabLst/>
              <a:defRPr/>
            </a:pPr>
            <a:r>
              <a:rPr lang="es-MX" dirty="0">
                <a:solidFill>
                  <a:prstClr val="black"/>
                </a:solidFill>
                <a:latin typeface="Arial" panose="020B0604020202020204" pitchFamily="34" charset="0"/>
                <a:ea typeface="Calibri" panose="020F0502020204030204" pitchFamily="34" charset="0"/>
                <a:cs typeface="Arial" panose="020B0604020202020204" pitchFamily="34" charset="0"/>
              </a:rPr>
              <a:t>En el panel de alumno se mostrarán en forma de lista los requerimientos, esto se obtiene de la base de datos.</a:t>
            </a:r>
          </a:p>
          <a:p>
            <a:pPr marR="0" lvl="0" algn="r" defTabSz="914400" rtl="0" eaLnBrk="1" fontAlgn="auto" latinLnBrk="0" hangingPunct="1">
              <a:lnSpc>
                <a:spcPct val="150000"/>
              </a:lnSpc>
              <a:spcBef>
                <a:spcPts val="0"/>
              </a:spcBef>
              <a:spcAft>
                <a:spcPts val="800"/>
              </a:spcAft>
              <a:buClrTx/>
              <a:buSzTx/>
              <a:tabLst/>
              <a:defRPr/>
            </a:pPr>
            <a:r>
              <a:rPr lang="es-MX" dirty="0">
                <a:solidFill>
                  <a:prstClr val="black"/>
                </a:solidFill>
                <a:latin typeface="Arial" panose="020B0604020202020204" pitchFamily="34" charset="0"/>
                <a:ea typeface="Calibri" panose="020F0502020204030204" pitchFamily="34" charset="0"/>
                <a:cs typeface="Arial" panose="020B0604020202020204" pitchFamily="34" charset="0"/>
              </a:rPr>
              <a:t> </a:t>
            </a:r>
            <a:r>
              <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  </a:t>
            </a:r>
            <a:endParaRPr kumimoji="0" lang="es-MX" sz="12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p:txBody>
      </p:sp>
      <p:pic>
        <p:nvPicPr>
          <p:cNvPr id="3" name="Imagen 2">
            <a:extLst>
              <a:ext uri="{FF2B5EF4-FFF2-40B4-BE49-F238E27FC236}">
                <a16:creationId xmlns:a16="http://schemas.microsoft.com/office/drawing/2014/main" id="{FDBAD178-967A-4EDB-A52C-7655E2CF8D8D}"/>
              </a:ext>
            </a:extLst>
          </p:cNvPr>
          <p:cNvPicPr>
            <a:picLocks noChangeAspect="1"/>
          </p:cNvPicPr>
          <p:nvPr/>
        </p:nvPicPr>
        <p:blipFill>
          <a:blip r:embed="rId2"/>
          <a:stretch>
            <a:fillRect/>
          </a:stretch>
        </p:blipFill>
        <p:spPr>
          <a:xfrm>
            <a:off x="3405419" y="3848100"/>
            <a:ext cx="6089336" cy="2508250"/>
          </a:xfrm>
          <a:prstGeom prst="rect">
            <a:avLst/>
          </a:prstGeom>
        </p:spPr>
      </p:pic>
      <p:cxnSp>
        <p:nvCxnSpPr>
          <p:cNvPr id="6" name="Conector recto de flecha 5">
            <a:extLst>
              <a:ext uri="{FF2B5EF4-FFF2-40B4-BE49-F238E27FC236}">
                <a16:creationId xmlns:a16="http://schemas.microsoft.com/office/drawing/2014/main" id="{71CC1403-2E4D-4F43-BF09-175CF0EE6689}"/>
              </a:ext>
            </a:extLst>
          </p:cNvPr>
          <p:cNvCxnSpPr/>
          <p:nvPr/>
        </p:nvCxnSpPr>
        <p:spPr>
          <a:xfrm flipH="1">
            <a:off x="8658225" y="5748338"/>
            <a:ext cx="433388" cy="0"/>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0" name="Conector recto de flecha 9">
            <a:extLst>
              <a:ext uri="{FF2B5EF4-FFF2-40B4-BE49-F238E27FC236}">
                <a16:creationId xmlns:a16="http://schemas.microsoft.com/office/drawing/2014/main" id="{C3898AB5-26D4-41BA-85A1-0C05FF306177}"/>
              </a:ext>
            </a:extLst>
          </p:cNvPr>
          <p:cNvCxnSpPr/>
          <p:nvPr/>
        </p:nvCxnSpPr>
        <p:spPr>
          <a:xfrm flipH="1">
            <a:off x="8705850" y="5981700"/>
            <a:ext cx="433388" cy="0"/>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5893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arcador de número de diapositiva 7">
            <a:extLst>
              <a:ext uri="{FF2B5EF4-FFF2-40B4-BE49-F238E27FC236}">
                <a16:creationId xmlns:a16="http://schemas.microsoft.com/office/drawing/2014/main" id="{197D1D81-AAD6-4B14-AFF4-9DFBDE37F824}"/>
              </a:ext>
            </a:extLst>
          </p:cNvPr>
          <p:cNvSpPr>
            <a:spLocks noGrp="1"/>
          </p:cNvSpPr>
          <p:nvPr>
            <p:ph type="sldNum" sz="quarter" idx="12"/>
          </p:nvPr>
        </p:nvSpPr>
        <p:spPr/>
        <p:txBody>
          <a:bodyPr/>
          <a:lstStyle/>
          <a:p>
            <a:fld id="{90A5DFEB-E07E-4B57-AD4A-E6E5A3B83734}" type="slidenum">
              <a:rPr lang="es-MX" smtClean="0"/>
              <a:t>7</a:t>
            </a:fld>
            <a:endParaRPr lang="es-MX"/>
          </a:p>
        </p:txBody>
      </p:sp>
      <p:sp>
        <p:nvSpPr>
          <p:cNvPr id="9" name="CuadroTexto 8">
            <a:extLst>
              <a:ext uri="{FF2B5EF4-FFF2-40B4-BE49-F238E27FC236}">
                <a16:creationId xmlns:a16="http://schemas.microsoft.com/office/drawing/2014/main" id="{6D01E51C-8E4B-4736-A160-4F62493D3029}"/>
              </a:ext>
            </a:extLst>
          </p:cNvPr>
          <p:cNvSpPr txBox="1"/>
          <p:nvPr/>
        </p:nvSpPr>
        <p:spPr>
          <a:xfrm>
            <a:off x="983271" y="1669544"/>
            <a:ext cx="5303229" cy="1759456"/>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800"/>
              </a:spcAft>
              <a:buClrTx/>
              <a:buSzTx/>
              <a:buFontTx/>
              <a:buNone/>
              <a:tabLst/>
              <a:defRPr/>
            </a:pPr>
            <a:r>
              <a:rPr lang="es-MX" sz="1600" b="1" dirty="0">
                <a:solidFill>
                  <a:prstClr val="black"/>
                </a:solidFill>
                <a:latin typeface="Arial" panose="020B0604020202020204" pitchFamily="34" charset="0"/>
                <a:ea typeface="Aptos" panose="020B0004020202020204" pitchFamily="34" charset="0"/>
                <a:cs typeface="Arial" panose="020B0604020202020204" pitchFamily="34" charset="0"/>
              </a:rPr>
              <a:t>Políticas </a:t>
            </a:r>
            <a:r>
              <a:rPr kumimoji="0" lang="es-MX" sz="1600" b="1"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requisitos_documento</a:t>
            </a:r>
            <a:r>
              <a:rPr kumimoji="0" lang="es-MX" sz="1600" b="1"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a:t>
            </a: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endParaRPr>
          </a:p>
          <a:p>
            <a:pPr marL="342900" marR="0" lvl="0" indent="-342900" algn="just" defTabSz="914400" rtl="0" eaLnBrk="1" fontAlgn="auto" latinLnBrk="0" hangingPunct="1">
              <a:lnSpc>
                <a:spcPct val="150000"/>
              </a:lnSpc>
              <a:spcBef>
                <a:spcPts val="0"/>
              </a:spcBef>
              <a:spcAft>
                <a:spcPts val="800"/>
              </a:spcAft>
              <a:buClrTx/>
              <a:buSzTx/>
              <a:buFontTx/>
              <a:buAutoNum type="arabicPeriod"/>
              <a:tabLst/>
              <a:defRPr/>
            </a:pPr>
            <a:r>
              <a:rPr lang="es-MX" dirty="0">
                <a:solidFill>
                  <a:prstClr val="black"/>
                </a:solidFill>
                <a:latin typeface="Arial" panose="020B0604020202020204" pitchFamily="34" charset="0"/>
                <a:ea typeface="Calibri" panose="020F0502020204030204" pitchFamily="34" charset="0"/>
                <a:cs typeface="Arial" panose="020B0604020202020204" pitchFamily="34" charset="0"/>
              </a:rPr>
              <a:t>Nos dirigimos a políticas para deshabilitar RLS para que los datos puedan leerse y mostrarse en pantalla del alumno cuando se necesite.</a:t>
            </a:r>
            <a:endParaRPr kumimoji="0" lang="es-MX" sz="12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p:txBody>
      </p:sp>
      <p:pic>
        <p:nvPicPr>
          <p:cNvPr id="7" name="Imagen 6">
            <a:extLst>
              <a:ext uri="{FF2B5EF4-FFF2-40B4-BE49-F238E27FC236}">
                <a16:creationId xmlns:a16="http://schemas.microsoft.com/office/drawing/2014/main" id="{2D5E3852-E93D-4006-9DE7-ED0EFB09255C}"/>
              </a:ext>
            </a:extLst>
          </p:cNvPr>
          <p:cNvPicPr>
            <a:picLocks noChangeAspect="1"/>
          </p:cNvPicPr>
          <p:nvPr/>
        </p:nvPicPr>
        <p:blipFill rotWithShape="1">
          <a:blip r:embed="rId2"/>
          <a:srcRect l="4977" t="6063" r="2395" b="8644"/>
          <a:stretch/>
        </p:blipFill>
        <p:spPr>
          <a:xfrm>
            <a:off x="6743700" y="1669544"/>
            <a:ext cx="4610100" cy="2386607"/>
          </a:xfrm>
          <a:prstGeom prst="rect">
            <a:avLst/>
          </a:prstGeom>
        </p:spPr>
      </p:pic>
    </p:spTree>
    <p:extLst>
      <p:ext uri="{BB962C8B-B14F-4D97-AF65-F5344CB8AC3E}">
        <p14:creationId xmlns:p14="http://schemas.microsoft.com/office/powerpoint/2010/main" val="27165727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arcador de número de diapositiva 7">
            <a:extLst>
              <a:ext uri="{FF2B5EF4-FFF2-40B4-BE49-F238E27FC236}">
                <a16:creationId xmlns:a16="http://schemas.microsoft.com/office/drawing/2014/main" id="{197D1D81-AAD6-4B14-AFF4-9DFBDE37F824}"/>
              </a:ext>
            </a:extLst>
          </p:cNvPr>
          <p:cNvSpPr>
            <a:spLocks noGrp="1"/>
          </p:cNvSpPr>
          <p:nvPr>
            <p:ph type="sldNum" sz="quarter" idx="12"/>
          </p:nvPr>
        </p:nvSpPr>
        <p:spPr/>
        <p:txBody>
          <a:bodyPr/>
          <a:lstStyle/>
          <a:p>
            <a:fld id="{90A5DFEB-E07E-4B57-AD4A-E6E5A3B83734}" type="slidenum">
              <a:rPr lang="es-MX" smtClean="0"/>
              <a:t>8</a:t>
            </a:fld>
            <a:endParaRPr lang="es-MX"/>
          </a:p>
        </p:txBody>
      </p:sp>
      <p:sp>
        <p:nvSpPr>
          <p:cNvPr id="9" name="CuadroTexto 8">
            <a:extLst>
              <a:ext uri="{FF2B5EF4-FFF2-40B4-BE49-F238E27FC236}">
                <a16:creationId xmlns:a16="http://schemas.microsoft.com/office/drawing/2014/main" id="{6D01E51C-8E4B-4736-A160-4F62493D3029}"/>
              </a:ext>
            </a:extLst>
          </p:cNvPr>
          <p:cNvSpPr txBox="1"/>
          <p:nvPr/>
        </p:nvSpPr>
        <p:spPr>
          <a:xfrm>
            <a:off x="678471" y="978745"/>
            <a:ext cx="4795229" cy="4900509"/>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b="1" i="0" u="none" strike="noStrike" kern="1200" cap="none" spc="0" normalizeH="0" baseline="0" noProof="0" dirty="0" err="1">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Dashboard</a:t>
            </a:r>
            <a:r>
              <a:rPr kumimoji="0" lang="es-MX"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 alumno</a:t>
            </a:r>
          </a:p>
          <a:p>
            <a:pPr marL="0" marR="0" lvl="0" indent="0" algn="just" defTabSz="914400" rtl="0" eaLnBrk="1" fontAlgn="auto" latinLnBrk="0" hangingPunct="1">
              <a:lnSpc>
                <a:spcPct val="150000"/>
              </a:lnSpc>
              <a:spcBef>
                <a:spcPts val="0"/>
              </a:spcBef>
              <a:spcAft>
                <a:spcPts val="800"/>
              </a:spcAft>
              <a:buClrTx/>
              <a:buSzTx/>
              <a:buFontTx/>
              <a:buNone/>
              <a:tabLst/>
              <a:defRPr/>
            </a:pPr>
            <a:r>
              <a:rPr lang="es-MX" b="1" dirty="0">
                <a:solidFill>
                  <a:prstClr val="black"/>
                </a:solidFill>
                <a:latin typeface="Arial" panose="020B0604020202020204" pitchFamily="34" charset="0"/>
                <a:ea typeface="Calibri" panose="020F0502020204030204" pitchFamily="34" charset="0"/>
                <a:cs typeface="Arial" panose="020B0604020202020204" pitchFamily="34" charset="0"/>
              </a:rPr>
              <a:t>Mostrar requisitos</a:t>
            </a:r>
            <a:endParaRPr kumimoji="0" lang="es-MX"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endParaRPr>
          </a:p>
          <a:p>
            <a:pPr marL="342900" marR="0" lvl="0" indent="-342900" algn="just" defTabSz="914400" rtl="0" eaLnBrk="1" fontAlgn="auto" latinLnBrk="0" hangingPunct="1">
              <a:lnSpc>
                <a:spcPct val="150000"/>
              </a:lnSpc>
              <a:spcBef>
                <a:spcPts val="0"/>
              </a:spcBef>
              <a:spcAft>
                <a:spcPts val="800"/>
              </a:spcAft>
              <a:buClrTx/>
              <a:buSzTx/>
              <a:buFontTx/>
              <a:buAutoNum type="arabicPeriod"/>
              <a:tabLst/>
              <a:defRPr/>
            </a:pPr>
            <a:r>
              <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El </a:t>
            </a:r>
            <a:r>
              <a:rPr kumimoji="0" lang="es-MX"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dashboard</a:t>
            </a:r>
            <a:r>
              <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se construye dentro de un componente llamado </a:t>
            </a:r>
            <a:r>
              <a:rPr kumimoji="0" lang="es-MX"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alumno.ts</a:t>
            </a:r>
            <a:r>
              <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a:t>
            </a:r>
          </a:p>
          <a:p>
            <a:pPr marL="342900" marR="0" lvl="0" indent="-342900" algn="just" defTabSz="914400" rtl="0" eaLnBrk="1" fontAlgn="auto" latinLnBrk="0" hangingPunct="1">
              <a:lnSpc>
                <a:spcPct val="150000"/>
              </a:lnSpc>
              <a:spcBef>
                <a:spcPts val="0"/>
              </a:spcBef>
              <a:spcAft>
                <a:spcPts val="800"/>
              </a:spcAft>
              <a:buClrTx/>
              <a:buSzTx/>
              <a:buFontTx/>
              <a:buAutoNum type="arabicPeriod"/>
              <a:tabLst/>
              <a:defRPr/>
            </a:pPr>
            <a:r>
              <a:rPr lang="es-MX" dirty="0">
                <a:solidFill>
                  <a:prstClr val="black"/>
                </a:solidFill>
                <a:latin typeface="Arial" panose="020B0604020202020204" pitchFamily="34" charset="0"/>
                <a:ea typeface="Aptos" panose="020B0004020202020204" pitchFamily="34" charset="0"/>
                <a:cs typeface="Arial" panose="020B0604020202020204" pitchFamily="34" charset="0"/>
              </a:rPr>
              <a:t>Este componente se ha abordado en avances anteriores, sin embargo en esta ocasión se realizaron últimos ajustes, por ejemplo mostrar un menú desplegable de documentos y al seleccionar uno muestre la lista de requisitos.</a:t>
            </a:r>
            <a:endPar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342900" marR="0" lvl="0" indent="-342900" algn="just" defTabSz="914400" rtl="0" eaLnBrk="1" fontAlgn="auto" latinLnBrk="0" hangingPunct="1">
              <a:lnSpc>
                <a:spcPct val="150000"/>
              </a:lnSpc>
              <a:spcBef>
                <a:spcPts val="0"/>
              </a:spcBef>
              <a:spcAft>
                <a:spcPts val="800"/>
              </a:spcAft>
              <a:buClrTx/>
              <a:buSzTx/>
              <a:buFontTx/>
              <a:buAutoNum type="arabicPeriod"/>
              <a:tabLst/>
              <a:defRPr/>
            </a:pPr>
            <a:endParaRPr kumimoji="0" lang="es-MX" sz="12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p:txBody>
      </p:sp>
      <p:pic>
        <p:nvPicPr>
          <p:cNvPr id="3" name="Imagen 2">
            <a:extLst>
              <a:ext uri="{FF2B5EF4-FFF2-40B4-BE49-F238E27FC236}">
                <a16:creationId xmlns:a16="http://schemas.microsoft.com/office/drawing/2014/main" id="{58AD608B-48EF-41B2-92B4-424D221F5C10}"/>
              </a:ext>
            </a:extLst>
          </p:cNvPr>
          <p:cNvPicPr>
            <a:picLocks noChangeAspect="1"/>
          </p:cNvPicPr>
          <p:nvPr/>
        </p:nvPicPr>
        <p:blipFill rotWithShape="1">
          <a:blip r:embed="rId2"/>
          <a:srcRect l="22604" t="3310" r="3854" b="32701"/>
          <a:stretch/>
        </p:blipFill>
        <p:spPr>
          <a:xfrm>
            <a:off x="5892800" y="1520785"/>
            <a:ext cx="5876808" cy="2874876"/>
          </a:xfrm>
          <a:prstGeom prst="rect">
            <a:avLst/>
          </a:prstGeom>
        </p:spPr>
      </p:pic>
    </p:spTree>
    <p:extLst>
      <p:ext uri="{BB962C8B-B14F-4D97-AF65-F5344CB8AC3E}">
        <p14:creationId xmlns:p14="http://schemas.microsoft.com/office/powerpoint/2010/main" val="27793241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arcador de número de diapositiva 7">
            <a:extLst>
              <a:ext uri="{FF2B5EF4-FFF2-40B4-BE49-F238E27FC236}">
                <a16:creationId xmlns:a16="http://schemas.microsoft.com/office/drawing/2014/main" id="{197D1D81-AAD6-4B14-AFF4-9DFBDE37F824}"/>
              </a:ext>
            </a:extLst>
          </p:cNvPr>
          <p:cNvSpPr>
            <a:spLocks noGrp="1"/>
          </p:cNvSpPr>
          <p:nvPr>
            <p:ph type="sldNum" sz="quarter" idx="12"/>
          </p:nvPr>
        </p:nvSpPr>
        <p:spPr/>
        <p:txBody>
          <a:bodyPr/>
          <a:lstStyle/>
          <a:p>
            <a:fld id="{90A5DFEB-E07E-4B57-AD4A-E6E5A3B83734}" type="slidenum">
              <a:rPr lang="es-MX" smtClean="0"/>
              <a:t>9</a:t>
            </a:fld>
            <a:endParaRPr lang="es-MX"/>
          </a:p>
        </p:txBody>
      </p:sp>
      <p:sp>
        <p:nvSpPr>
          <p:cNvPr id="9" name="CuadroTexto 8">
            <a:extLst>
              <a:ext uri="{FF2B5EF4-FFF2-40B4-BE49-F238E27FC236}">
                <a16:creationId xmlns:a16="http://schemas.microsoft.com/office/drawing/2014/main" id="{6D01E51C-8E4B-4736-A160-4F62493D3029}"/>
              </a:ext>
            </a:extLst>
          </p:cNvPr>
          <p:cNvSpPr txBox="1"/>
          <p:nvPr/>
        </p:nvSpPr>
        <p:spPr>
          <a:xfrm>
            <a:off x="678471" y="978745"/>
            <a:ext cx="4795229" cy="5437386"/>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b="1" i="0" u="none" strike="noStrike" kern="1200" cap="none" spc="0" normalizeH="0" baseline="0" noProof="0" dirty="0" err="1">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Dashboard</a:t>
            </a:r>
            <a:r>
              <a:rPr kumimoji="0" lang="es-MX"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 alumno</a:t>
            </a:r>
          </a:p>
          <a:p>
            <a:pPr marL="0" marR="0" lvl="0" indent="0" algn="just" defTabSz="914400" rtl="0" eaLnBrk="1" fontAlgn="auto" latinLnBrk="0" hangingPunct="1">
              <a:lnSpc>
                <a:spcPct val="150000"/>
              </a:lnSpc>
              <a:spcBef>
                <a:spcPts val="0"/>
              </a:spcBef>
              <a:spcAft>
                <a:spcPts val="800"/>
              </a:spcAft>
              <a:buClrTx/>
              <a:buSzTx/>
              <a:buFontTx/>
              <a:buNone/>
              <a:tabLst/>
              <a:defRPr/>
            </a:pPr>
            <a:r>
              <a:rPr lang="es-MX" b="1" dirty="0">
                <a:solidFill>
                  <a:prstClr val="black"/>
                </a:solidFill>
                <a:latin typeface="Arial" panose="020B0604020202020204" pitchFamily="34" charset="0"/>
                <a:ea typeface="Calibri" panose="020F0502020204030204" pitchFamily="34" charset="0"/>
                <a:cs typeface="Arial" panose="020B0604020202020204" pitchFamily="34" charset="0"/>
              </a:rPr>
              <a:t>Mostrar requisitos</a:t>
            </a:r>
            <a:endParaRPr kumimoji="0" lang="es-MX"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endParaRPr>
          </a:p>
          <a:p>
            <a:pPr marR="0" lvl="0" algn="just" defTabSz="914400" rtl="0" eaLnBrk="1" fontAlgn="auto" latinLnBrk="0" hangingPunct="1">
              <a:lnSpc>
                <a:spcPct val="150000"/>
              </a:lnSpc>
              <a:spcBef>
                <a:spcPts val="0"/>
              </a:spcBef>
              <a:spcAft>
                <a:spcPts val="800"/>
              </a:spcAft>
              <a:buClrTx/>
              <a:buSzTx/>
              <a:tabLst/>
              <a:defRPr/>
            </a:pPr>
            <a:r>
              <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3. Se compone de 4 principales</a:t>
            </a:r>
            <a:r>
              <a:rPr lang="es-MX" dirty="0">
                <a:solidFill>
                  <a:prstClr val="black"/>
                </a:solidFill>
                <a:latin typeface="Arial" panose="020B0604020202020204" pitchFamily="34" charset="0"/>
                <a:ea typeface="Aptos" panose="020B0004020202020204" pitchFamily="34" charset="0"/>
                <a:cs typeface="Arial" panose="020B0604020202020204" pitchFamily="34" charset="0"/>
              </a:rPr>
              <a:t>: autenticación de usuario, cargar información del alumno, se cargan las solicitudes del usuario desde </a:t>
            </a:r>
            <a:r>
              <a:rPr lang="es-MX" dirty="0" err="1">
                <a:solidFill>
                  <a:prstClr val="black"/>
                </a:solidFill>
                <a:latin typeface="Arial" panose="020B0604020202020204" pitchFamily="34" charset="0"/>
                <a:ea typeface="Aptos" panose="020B0004020202020204" pitchFamily="34" charset="0"/>
                <a:cs typeface="Arial" panose="020B0604020202020204" pitchFamily="34" charset="0"/>
              </a:rPr>
              <a:t>Supabase</a:t>
            </a:r>
            <a:r>
              <a:rPr lang="es-MX" dirty="0">
                <a:solidFill>
                  <a:prstClr val="black"/>
                </a:solidFill>
                <a:latin typeface="Arial" panose="020B0604020202020204" pitchFamily="34" charset="0"/>
                <a:ea typeface="Aptos" panose="020B0004020202020204" pitchFamily="34" charset="0"/>
                <a:cs typeface="Arial" panose="020B0604020202020204" pitchFamily="34" charset="0"/>
              </a:rPr>
              <a:t> y funciones del </a:t>
            </a:r>
            <a:r>
              <a:rPr lang="es-MX" dirty="0" err="1">
                <a:solidFill>
                  <a:prstClr val="black"/>
                </a:solidFill>
                <a:latin typeface="Arial" panose="020B0604020202020204" pitchFamily="34" charset="0"/>
                <a:ea typeface="Aptos" panose="020B0004020202020204" pitchFamily="34" charset="0"/>
                <a:cs typeface="Arial" panose="020B0604020202020204" pitchFamily="34" charset="0"/>
              </a:rPr>
              <a:t>dashboard</a:t>
            </a:r>
            <a:r>
              <a:rPr lang="es-MX" dirty="0">
                <a:solidFill>
                  <a:prstClr val="black"/>
                </a:solidFill>
                <a:latin typeface="Arial" panose="020B0604020202020204" pitchFamily="34" charset="0"/>
                <a:ea typeface="Aptos" panose="020B0004020202020204" pitchFamily="34" charset="0"/>
                <a:cs typeface="Arial" panose="020B0604020202020204" pitchFamily="34" charset="0"/>
              </a:rPr>
              <a:t>.</a:t>
            </a:r>
          </a:p>
          <a:p>
            <a:pPr marR="0" lvl="0" algn="just" defTabSz="914400" rtl="0" eaLnBrk="1" fontAlgn="auto" latinLnBrk="0" hangingPunct="1">
              <a:lnSpc>
                <a:spcPct val="150000"/>
              </a:lnSpc>
              <a:spcBef>
                <a:spcPts val="0"/>
              </a:spcBef>
              <a:spcAft>
                <a:spcPts val="800"/>
              </a:spcAft>
              <a:buClrTx/>
              <a:buSzTx/>
              <a:tabLst/>
              <a:defRPr/>
            </a:pPr>
            <a:r>
              <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4.actualizarRequisitos() filtra requisitos según el tipo de documento seleccionado.</a:t>
            </a:r>
          </a:p>
          <a:p>
            <a:pPr marR="0" lvl="0" algn="just" defTabSz="914400" rtl="0" eaLnBrk="1" fontAlgn="auto" latinLnBrk="0" hangingPunct="1">
              <a:lnSpc>
                <a:spcPct val="150000"/>
              </a:lnSpc>
              <a:spcBef>
                <a:spcPts val="0"/>
              </a:spcBef>
              <a:spcAft>
                <a:spcPts val="800"/>
              </a:spcAft>
              <a:buClrTx/>
              <a:buSzTx/>
              <a:tabLst/>
              <a:defRPr/>
            </a:pPr>
            <a:r>
              <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5. </a:t>
            </a:r>
            <a:r>
              <a:rPr kumimoji="0" lang="es-MX"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agregarArchivo</a:t>
            </a:r>
            <a:r>
              <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a:t>
            </a:r>
            <a:r>
              <a:rPr kumimoji="0" lang="es-MX"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requisitoId</a:t>
            </a:r>
            <a:r>
              <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input) toma el archivo seleccionado y lo guarda en el arreglo </a:t>
            </a:r>
            <a:r>
              <a:rPr kumimoji="0" lang="es-MX"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archivosSubidos</a:t>
            </a:r>
            <a:endPar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p:txBody>
      </p:sp>
      <p:pic>
        <p:nvPicPr>
          <p:cNvPr id="3" name="Imagen 2">
            <a:extLst>
              <a:ext uri="{FF2B5EF4-FFF2-40B4-BE49-F238E27FC236}">
                <a16:creationId xmlns:a16="http://schemas.microsoft.com/office/drawing/2014/main" id="{58AD608B-48EF-41B2-92B4-424D221F5C10}"/>
              </a:ext>
            </a:extLst>
          </p:cNvPr>
          <p:cNvPicPr>
            <a:picLocks noChangeAspect="1"/>
          </p:cNvPicPr>
          <p:nvPr/>
        </p:nvPicPr>
        <p:blipFill rotWithShape="1">
          <a:blip r:embed="rId2"/>
          <a:srcRect l="22604" t="3310" r="3854" b="32701"/>
          <a:stretch/>
        </p:blipFill>
        <p:spPr>
          <a:xfrm>
            <a:off x="5892800" y="1520785"/>
            <a:ext cx="5876808" cy="2874876"/>
          </a:xfrm>
          <a:prstGeom prst="rect">
            <a:avLst/>
          </a:prstGeom>
        </p:spPr>
      </p:pic>
    </p:spTree>
    <p:extLst>
      <p:ext uri="{BB962C8B-B14F-4D97-AF65-F5344CB8AC3E}">
        <p14:creationId xmlns:p14="http://schemas.microsoft.com/office/powerpoint/2010/main" val="23357919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arcador de número de diapositiva 7">
            <a:extLst>
              <a:ext uri="{FF2B5EF4-FFF2-40B4-BE49-F238E27FC236}">
                <a16:creationId xmlns:a16="http://schemas.microsoft.com/office/drawing/2014/main" id="{197D1D81-AAD6-4B14-AFF4-9DFBDE37F824}"/>
              </a:ext>
            </a:extLst>
          </p:cNvPr>
          <p:cNvSpPr>
            <a:spLocks noGrp="1"/>
          </p:cNvSpPr>
          <p:nvPr>
            <p:ph type="sldNum" sz="quarter" idx="12"/>
          </p:nvPr>
        </p:nvSpPr>
        <p:spPr/>
        <p:txBody>
          <a:bodyPr/>
          <a:lstStyle/>
          <a:p>
            <a:fld id="{90A5DFEB-E07E-4B57-AD4A-E6E5A3B83734}" type="slidenum">
              <a:rPr lang="es-MX" smtClean="0"/>
              <a:t>10</a:t>
            </a:fld>
            <a:endParaRPr lang="es-MX"/>
          </a:p>
        </p:txBody>
      </p:sp>
      <p:sp>
        <p:nvSpPr>
          <p:cNvPr id="9" name="CuadroTexto 8">
            <a:extLst>
              <a:ext uri="{FF2B5EF4-FFF2-40B4-BE49-F238E27FC236}">
                <a16:creationId xmlns:a16="http://schemas.microsoft.com/office/drawing/2014/main" id="{6D01E51C-8E4B-4736-A160-4F62493D3029}"/>
              </a:ext>
            </a:extLst>
          </p:cNvPr>
          <p:cNvSpPr txBox="1"/>
          <p:nvPr/>
        </p:nvSpPr>
        <p:spPr>
          <a:xfrm>
            <a:off x="463551" y="833602"/>
            <a:ext cx="5168900" cy="5750292"/>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b="1" i="0" u="none" strike="noStrike" kern="1200" cap="none" spc="0" normalizeH="0" baseline="0" noProof="0" dirty="0" err="1">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Solicitudes.service</a:t>
            </a:r>
            <a:endParaRPr kumimoji="0" lang="es-MX"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r>
              <a:rPr lang="es-MX" b="1" dirty="0">
                <a:solidFill>
                  <a:prstClr val="black"/>
                </a:solidFill>
                <a:latin typeface="Arial" panose="020B0604020202020204" pitchFamily="34" charset="0"/>
                <a:ea typeface="Calibri" panose="020F0502020204030204" pitchFamily="34" charset="0"/>
                <a:cs typeface="Arial" panose="020B0604020202020204" pitchFamily="34" charset="0"/>
              </a:rPr>
              <a:t>Mostrar requisitos</a:t>
            </a:r>
            <a:endParaRPr kumimoji="0" lang="es-MX"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endParaRPr>
          </a:p>
          <a:p>
            <a:pPr marL="342900" marR="0" lvl="0" indent="-342900" algn="just" defTabSz="914400" rtl="0" eaLnBrk="1" fontAlgn="auto" latinLnBrk="0" hangingPunct="1">
              <a:lnSpc>
                <a:spcPct val="150000"/>
              </a:lnSpc>
              <a:spcBef>
                <a:spcPts val="0"/>
              </a:spcBef>
              <a:spcAft>
                <a:spcPts val="800"/>
              </a:spcAft>
              <a:buClrTx/>
              <a:buSzTx/>
              <a:buAutoNum type="arabicPeriod"/>
              <a:tabLst/>
              <a:defRPr/>
            </a:pPr>
            <a:r>
              <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Este servicio es la parte que conecta el </a:t>
            </a:r>
            <a:r>
              <a:rPr kumimoji="0" lang="es-MX"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dashboard</a:t>
            </a:r>
            <a:r>
              <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con la base de datos de </a:t>
            </a:r>
            <a:r>
              <a:rPr kumimoji="0" lang="es-MX"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Supabase</a:t>
            </a:r>
            <a:r>
              <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por lo tanto es una pieza clave para mostrar los requisitos. Entonces también es necesario realizar alguna modificaciones en este archivo.</a:t>
            </a:r>
          </a:p>
          <a:p>
            <a:pPr marL="342900" marR="0" lvl="0" indent="-342900" algn="just" defTabSz="914400" rtl="0" eaLnBrk="1" fontAlgn="auto" latinLnBrk="0" hangingPunct="1">
              <a:lnSpc>
                <a:spcPct val="150000"/>
              </a:lnSpc>
              <a:spcBef>
                <a:spcPts val="0"/>
              </a:spcBef>
              <a:spcAft>
                <a:spcPts val="800"/>
              </a:spcAft>
              <a:buClrTx/>
              <a:buSzTx/>
              <a:buAutoNum type="arabicPeriod"/>
              <a:tabLst/>
              <a:defRPr/>
            </a:pPr>
            <a:r>
              <a:rPr lang="es-MX" dirty="0">
                <a:solidFill>
                  <a:prstClr val="black"/>
                </a:solidFill>
                <a:latin typeface="Arial" panose="020B0604020202020204" pitchFamily="34" charset="0"/>
                <a:ea typeface="Aptos" panose="020B0004020202020204" pitchFamily="34" charset="0"/>
                <a:cs typeface="Arial" panose="020B0604020202020204" pitchFamily="34" charset="0"/>
              </a:rPr>
              <a:t>Se usó </a:t>
            </a:r>
            <a:r>
              <a:rPr lang="es-MX" dirty="0" err="1">
                <a:solidFill>
                  <a:prstClr val="black"/>
                </a:solidFill>
                <a:latin typeface="Arial" panose="020B0604020202020204" pitchFamily="34" charset="0"/>
                <a:ea typeface="Aptos" panose="020B0004020202020204" pitchFamily="34" charset="0"/>
                <a:cs typeface="Arial" panose="020B0604020202020204" pitchFamily="34" charset="0"/>
              </a:rPr>
              <a:t>getRequisitos</a:t>
            </a:r>
            <a:r>
              <a:rPr lang="es-MX" dirty="0">
                <a:solidFill>
                  <a:prstClr val="black"/>
                </a:solidFill>
                <a:latin typeface="Arial" panose="020B0604020202020204" pitchFamily="34" charset="0"/>
                <a:ea typeface="Aptos" panose="020B0004020202020204" pitchFamily="34" charset="0"/>
                <a:cs typeface="Arial" panose="020B0604020202020204" pitchFamily="34" charset="0"/>
              </a:rPr>
              <a:t>() para conectar con </a:t>
            </a:r>
            <a:r>
              <a:rPr lang="es-MX" dirty="0" err="1">
                <a:solidFill>
                  <a:prstClr val="black"/>
                </a:solidFill>
                <a:latin typeface="Arial" panose="020B0604020202020204" pitchFamily="34" charset="0"/>
                <a:ea typeface="Aptos" panose="020B0004020202020204" pitchFamily="34" charset="0"/>
                <a:cs typeface="Arial" panose="020B0604020202020204" pitchFamily="34" charset="0"/>
              </a:rPr>
              <a:t>Supabase</a:t>
            </a:r>
            <a:r>
              <a:rPr lang="es-MX" dirty="0">
                <a:solidFill>
                  <a:prstClr val="black"/>
                </a:solidFill>
                <a:latin typeface="Arial" panose="020B0604020202020204" pitchFamily="34" charset="0"/>
                <a:ea typeface="Aptos" panose="020B0004020202020204" pitchFamily="34" charset="0"/>
                <a:cs typeface="Arial" panose="020B0604020202020204" pitchFamily="34" charset="0"/>
              </a:rPr>
              <a:t>, leer la tabla “</a:t>
            </a:r>
            <a:r>
              <a:rPr lang="es-MX" dirty="0" err="1">
                <a:solidFill>
                  <a:prstClr val="black"/>
                </a:solidFill>
                <a:latin typeface="Arial" panose="020B0604020202020204" pitchFamily="34" charset="0"/>
                <a:ea typeface="Aptos" panose="020B0004020202020204" pitchFamily="34" charset="0"/>
                <a:cs typeface="Arial" panose="020B0604020202020204" pitchFamily="34" charset="0"/>
              </a:rPr>
              <a:t>requisitos_documentos</a:t>
            </a:r>
            <a:r>
              <a:rPr lang="es-MX" dirty="0">
                <a:solidFill>
                  <a:prstClr val="black"/>
                </a:solidFill>
                <a:latin typeface="Arial" panose="020B0604020202020204" pitchFamily="34" charset="0"/>
                <a:ea typeface="Aptos" panose="020B0004020202020204" pitchFamily="34" charset="0"/>
                <a:cs typeface="Arial" panose="020B0604020202020204" pitchFamily="34" charset="0"/>
              </a:rPr>
              <a:t>” leer la tabla: </a:t>
            </a:r>
            <a:r>
              <a:rPr lang="es-MX" dirty="0" err="1">
                <a:solidFill>
                  <a:prstClr val="black"/>
                </a:solidFill>
                <a:latin typeface="Arial" panose="020B0604020202020204" pitchFamily="34" charset="0"/>
                <a:ea typeface="Aptos" panose="020B0004020202020204" pitchFamily="34" charset="0"/>
                <a:cs typeface="Arial" panose="020B0604020202020204" pitchFamily="34" charset="0"/>
              </a:rPr>
              <a:t>requisitos_documentos</a:t>
            </a:r>
            <a:r>
              <a:rPr lang="es-MX" dirty="0">
                <a:solidFill>
                  <a:prstClr val="black"/>
                </a:solidFill>
                <a:latin typeface="Arial" panose="020B0604020202020204" pitchFamily="34" charset="0"/>
                <a:ea typeface="Aptos" panose="020B0004020202020204" pitchFamily="34" charset="0"/>
                <a:cs typeface="Arial" panose="020B0604020202020204" pitchFamily="34" charset="0"/>
              </a:rPr>
              <a:t> con todos los requisitos guardados.</a:t>
            </a:r>
            <a:endPar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p:txBody>
      </p:sp>
      <p:pic>
        <p:nvPicPr>
          <p:cNvPr id="4" name="Imagen 3">
            <a:extLst>
              <a:ext uri="{FF2B5EF4-FFF2-40B4-BE49-F238E27FC236}">
                <a16:creationId xmlns:a16="http://schemas.microsoft.com/office/drawing/2014/main" id="{F01A66F9-2A52-453E-BB4E-A182CEFE5B9C}"/>
              </a:ext>
            </a:extLst>
          </p:cNvPr>
          <p:cNvPicPr>
            <a:picLocks noChangeAspect="1"/>
          </p:cNvPicPr>
          <p:nvPr/>
        </p:nvPicPr>
        <p:blipFill rotWithShape="1">
          <a:blip r:embed="rId2"/>
          <a:srcRect l="25119" r="19882" b="30360"/>
          <a:stretch/>
        </p:blipFill>
        <p:spPr>
          <a:xfrm>
            <a:off x="5951905" y="1652669"/>
            <a:ext cx="5776544" cy="4112158"/>
          </a:xfrm>
          <a:prstGeom prst="rect">
            <a:avLst/>
          </a:prstGeom>
        </p:spPr>
      </p:pic>
    </p:spTree>
    <p:extLst>
      <p:ext uri="{BB962C8B-B14F-4D97-AF65-F5344CB8AC3E}">
        <p14:creationId xmlns:p14="http://schemas.microsoft.com/office/powerpoint/2010/main" val="23160992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arcador de número de diapositiva 7">
            <a:extLst>
              <a:ext uri="{FF2B5EF4-FFF2-40B4-BE49-F238E27FC236}">
                <a16:creationId xmlns:a16="http://schemas.microsoft.com/office/drawing/2014/main" id="{197D1D81-AAD6-4B14-AFF4-9DFBDE37F824}"/>
              </a:ext>
            </a:extLst>
          </p:cNvPr>
          <p:cNvSpPr>
            <a:spLocks noGrp="1"/>
          </p:cNvSpPr>
          <p:nvPr>
            <p:ph type="sldNum" sz="quarter" idx="12"/>
          </p:nvPr>
        </p:nvSpPr>
        <p:spPr/>
        <p:txBody>
          <a:bodyPr/>
          <a:lstStyle/>
          <a:p>
            <a:fld id="{90A5DFEB-E07E-4B57-AD4A-E6E5A3B83734}" type="slidenum">
              <a:rPr lang="es-MX" smtClean="0"/>
              <a:t>11</a:t>
            </a:fld>
            <a:endParaRPr lang="es-MX"/>
          </a:p>
        </p:txBody>
      </p:sp>
      <p:sp>
        <p:nvSpPr>
          <p:cNvPr id="9" name="CuadroTexto 8">
            <a:extLst>
              <a:ext uri="{FF2B5EF4-FFF2-40B4-BE49-F238E27FC236}">
                <a16:creationId xmlns:a16="http://schemas.microsoft.com/office/drawing/2014/main" id="{6D01E51C-8E4B-4736-A160-4F62493D3029}"/>
              </a:ext>
            </a:extLst>
          </p:cNvPr>
          <p:cNvSpPr txBox="1"/>
          <p:nvPr/>
        </p:nvSpPr>
        <p:spPr>
          <a:xfrm>
            <a:off x="853516" y="941179"/>
            <a:ext cx="4068108" cy="4190891"/>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b="1" i="0" u="none" strike="noStrike" kern="1200" cap="none" spc="0" normalizeH="0" baseline="0" noProof="0" dirty="0" err="1">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Solicitudes.service</a:t>
            </a:r>
            <a:endParaRPr kumimoji="0" lang="es-MX"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r>
              <a:rPr lang="es-MX" b="1" dirty="0">
                <a:solidFill>
                  <a:prstClr val="black"/>
                </a:solidFill>
                <a:latin typeface="Arial" panose="020B0604020202020204" pitchFamily="34" charset="0"/>
                <a:ea typeface="Calibri" panose="020F0502020204030204" pitchFamily="34" charset="0"/>
                <a:cs typeface="Arial" panose="020B0604020202020204" pitchFamily="34" charset="0"/>
              </a:rPr>
              <a:t>Mostrar requisitos</a:t>
            </a:r>
            <a:endParaRPr kumimoji="0" lang="es-MX"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endParaRPr>
          </a:p>
          <a:p>
            <a:pPr marL="342900" marR="0" lvl="0" indent="-342900" algn="just" defTabSz="914400" rtl="0" eaLnBrk="1" fontAlgn="auto" latinLnBrk="0" hangingPunct="1">
              <a:lnSpc>
                <a:spcPct val="150000"/>
              </a:lnSpc>
              <a:spcBef>
                <a:spcPts val="0"/>
              </a:spcBef>
              <a:spcAft>
                <a:spcPts val="800"/>
              </a:spcAft>
              <a:buClrTx/>
              <a:buSzTx/>
              <a:buAutoNum type="arabicPeriod"/>
              <a:tabLst/>
              <a:defRPr/>
            </a:pPr>
            <a:r>
              <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En </a:t>
            </a:r>
            <a:r>
              <a:rPr kumimoji="0" lang="es-MX"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Alumno.ts</a:t>
            </a:r>
            <a:r>
              <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se aplica esto:</a:t>
            </a:r>
          </a:p>
          <a:p>
            <a:pPr marR="0" lvl="0" algn="just" defTabSz="914400" rtl="0" eaLnBrk="1" fontAlgn="auto" latinLnBrk="0" hangingPunct="1">
              <a:lnSpc>
                <a:spcPct val="150000"/>
              </a:lnSpc>
              <a:spcBef>
                <a:spcPts val="0"/>
              </a:spcBef>
              <a:spcAft>
                <a:spcPts val="800"/>
              </a:spcAft>
              <a:buClrTx/>
              <a:buSzTx/>
              <a:tabLst/>
              <a:defRPr/>
            </a:pPr>
            <a:r>
              <a:rPr kumimoji="0" lang="es-MX"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this.todosRequisitos</a:t>
            </a:r>
            <a:r>
              <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  </a:t>
            </a:r>
            <a:r>
              <a:rPr kumimoji="0" lang="es-MX"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await</a:t>
            </a:r>
            <a:r>
              <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a:t>
            </a:r>
            <a:r>
              <a:rPr kumimoji="0" lang="es-MX"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this.solicitudesService.getRequisitos</a:t>
            </a:r>
            <a:r>
              <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a:t>
            </a:r>
          </a:p>
          <a:p>
            <a:pPr marR="0" lvl="0" algn="just" defTabSz="914400" rtl="0" eaLnBrk="1" fontAlgn="auto" latinLnBrk="0" hangingPunct="1">
              <a:lnSpc>
                <a:spcPct val="150000"/>
              </a:lnSpc>
              <a:spcBef>
                <a:spcPts val="0"/>
              </a:spcBef>
              <a:spcAft>
                <a:spcPts val="800"/>
              </a:spcAft>
              <a:buClrTx/>
              <a:buSzTx/>
              <a:tabLst/>
              <a:defRPr/>
            </a:pPr>
            <a:r>
              <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Esto indica que el servicio trae los datos desde </a:t>
            </a:r>
            <a:r>
              <a:rPr kumimoji="0" lang="es-MX"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SupabaseEl</a:t>
            </a:r>
            <a:r>
              <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componente los guarda en </a:t>
            </a:r>
            <a:r>
              <a:rPr kumimoji="0" lang="es-MX"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todosRequisitos</a:t>
            </a:r>
            <a:endPar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p:txBody>
      </p:sp>
      <p:pic>
        <p:nvPicPr>
          <p:cNvPr id="4" name="Imagen 3">
            <a:extLst>
              <a:ext uri="{FF2B5EF4-FFF2-40B4-BE49-F238E27FC236}">
                <a16:creationId xmlns:a16="http://schemas.microsoft.com/office/drawing/2014/main" id="{F01A66F9-2A52-453E-BB4E-A182CEFE5B9C}"/>
              </a:ext>
            </a:extLst>
          </p:cNvPr>
          <p:cNvPicPr>
            <a:picLocks noChangeAspect="1"/>
          </p:cNvPicPr>
          <p:nvPr/>
        </p:nvPicPr>
        <p:blipFill rotWithShape="1">
          <a:blip r:embed="rId2"/>
          <a:srcRect l="25119" t="5210" r="25029" b="36062"/>
          <a:stretch/>
        </p:blipFill>
        <p:spPr>
          <a:xfrm>
            <a:off x="5992616" y="136525"/>
            <a:ext cx="5235967" cy="3467787"/>
          </a:xfrm>
          <a:prstGeom prst="rect">
            <a:avLst/>
          </a:prstGeom>
        </p:spPr>
      </p:pic>
      <p:pic>
        <p:nvPicPr>
          <p:cNvPr id="5" name="Imagen 4">
            <a:extLst>
              <a:ext uri="{FF2B5EF4-FFF2-40B4-BE49-F238E27FC236}">
                <a16:creationId xmlns:a16="http://schemas.microsoft.com/office/drawing/2014/main" id="{622C8402-2F87-4DCE-8A9A-F47B121BED01}"/>
              </a:ext>
            </a:extLst>
          </p:cNvPr>
          <p:cNvPicPr>
            <a:picLocks noChangeAspect="1"/>
          </p:cNvPicPr>
          <p:nvPr/>
        </p:nvPicPr>
        <p:blipFill rotWithShape="1">
          <a:blip r:embed="rId3"/>
          <a:srcRect l="22059" t="4488" r="16617" b="32786"/>
          <a:stretch/>
        </p:blipFill>
        <p:spPr>
          <a:xfrm>
            <a:off x="6415073" y="3879740"/>
            <a:ext cx="4623905" cy="2659172"/>
          </a:xfrm>
          <a:prstGeom prst="rect">
            <a:avLst/>
          </a:prstGeom>
        </p:spPr>
      </p:pic>
    </p:spTree>
    <p:extLst>
      <p:ext uri="{BB962C8B-B14F-4D97-AF65-F5344CB8AC3E}">
        <p14:creationId xmlns:p14="http://schemas.microsoft.com/office/powerpoint/2010/main" val="22639369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arcador de número de diapositiva 7">
            <a:extLst>
              <a:ext uri="{FF2B5EF4-FFF2-40B4-BE49-F238E27FC236}">
                <a16:creationId xmlns:a16="http://schemas.microsoft.com/office/drawing/2014/main" id="{197D1D81-AAD6-4B14-AFF4-9DFBDE37F824}"/>
              </a:ext>
            </a:extLst>
          </p:cNvPr>
          <p:cNvSpPr>
            <a:spLocks noGrp="1"/>
          </p:cNvSpPr>
          <p:nvPr>
            <p:ph type="sldNum" sz="quarter" idx="12"/>
          </p:nvPr>
        </p:nvSpPr>
        <p:spPr/>
        <p:txBody>
          <a:bodyPr/>
          <a:lstStyle/>
          <a:p>
            <a:fld id="{90A5DFEB-E07E-4B57-AD4A-E6E5A3B83734}" type="slidenum">
              <a:rPr lang="es-MX" smtClean="0"/>
              <a:t>12</a:t>
            </a:fld>
            <a:endParaRPr lang="es-MX"/>
          </a:p>
        </p:txBody>
      </p:sp>
      <p:sp>
        <p:nvSpPr>
          <p:cNvPr id="9" name="CuadroTexto 8">
            <a:extLst>
              <a:ext uri="{FF2B5EF4-FFF2-40B4-BE49-F238E27FC236}">
                <a16:creationId xmlns:a16="http://schemas.microsoft.com/office/drawing/2014/main" id="{6D01E51C-8E4B-4736-A160-4F62493D3029}"/>
              </a:ext>
            </a:extLst>
          </p:cNvPr>
          <p:cNvSpPr txBox="1"/>
          <p:nvPr/>
        </p:nvSpPr>
        <p:spPr>
          <a:xfrm>
            <a:off x="853516" y="953301"/>
            <a:ext cx="4068108" cy="4919295"/>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b="1" i="0" u="none" strike="noStrike" kern="1200" cap="none" spc="0" normalizeH="0" baseline="0" noProof="0" dirty="0" err="1">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Dashboard</a:t>
            </a:r>
            <a:r>
              <a:rPr kumimoji="0" lang="es-MX"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 Alumno</a:t>
            </a:r>
          </a:p>
          <a:p>
            <a:pPr marL="0" marR="0" lvl="0" indent="0" algn="just" defTabSz="914400" rtl="0" eaLnBrk="1" fontAlgn="auto" latinLnBrk="0" hangingPunct="1">
              <a:lnSpc>
                <a:spcPct val="150000"/>
              </a:lnSpc>
              <a:spcBef>
                <a:spcPts val="0"/>
              </a:spcBef>
              <a:spcAft>
                <a:spcPts val="800"/>
              </a:spcAft>
              <a:buClrTx/>
              <a:buSzTx/>
              <a:buFontTx/>
              <a:buNone/>
              <a:tabLst/>
              <a:defRPr/>
            </a:pPr>
            <a:r>
              <a:rPr lang="es-MX" b="1" dirty="0">
                <a:solidFill>
                  <a:prstClr val="black"/>
                </a:solidFill>
                <a:latin typeface="Arial" panose="020B0604020202020204" pitchFamily="34" charset="0"/>
                <a:ea typeface="Calibri" panose="020F0502020204030204" pitchFamily="34" charset="0"/>
                <a:cs typeface="Arial" panose="020B0604020202020204" pitchFamily="34" charset="0"/>
              </a:rPr>
              <a:t>Mostrar estado de solicitudes</a:t>
            </a:r>
            <a:endParaRPr kumimoji="0" lang="es-MX"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endParaRPr>
          </a:p>
          <a:p>
            <a:pPr marR="0" lvl="0" algn="just" defTabSz="914400" rtl="0" eaLnBrk="1" fontAlgn="auto" latinLnBrk="0" hangingPunct="1">
              <a:lnSpc>
                <a:spcPct val="150000"/>
              </a:lnSpc>
              <a:spcBef>
                <a:spcPts val="0"/>
              </a:spcBef>
              <a:spcAft>
                <a:spcPts val="800"/>
              </a:spcAft>
              <a:buClrTx/>
              <a:buSzTx/>
              <a:tabLst/>
              <a:defRPr/>
            </a:pPr>
            <a:r>
              <a:rPr lang="es-MX" dirty="0">
                <a:solidFill>
                  <a:prstClr val="black"/>
                </a:solidFill>
                <a:latin typeface="Arial" panose="020B0604020202020204" pitchFamily="34" charset="0"/>
                <a:ea typeface="Aptos" panose="020B0004020202020204" pitchFamily="34" charset="0"/>
                <a:cs typeface="Arial" panose="020B0604020202020204" pitchFamily="34" charset="0"/>
              </a:rPr>
              <a:t>1. En el método </a:t>
            </a:r>
            <a:r>
              <a:rPr kumimoji="0" lang="es-MX"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async</a:t>
            </a:r>
            <a:r>
              <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a:t>
            </a:r>
            <a:r>
              <a:rPr kumimoji="0" lang="es-MX"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cargarSolicitudes</a:t>
            </a:r>
            <a:r>
              <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conecta a </a:t>
            </a:r>
            <a:r>
              <a:rPr kumimoji="0" lang="es-MX"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Supabase</a:t>
            </a:r>
            <a:r>
              <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y filtra solo las solicitudes  del alumno </a:t>
            </a:r>
            <a:r>
              <a:rPr kumimoji="0" lang="es-MX"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logueado</a:t>
            </a:r>
            <a:r>
              <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a:t>
            </a:r>
          </a:p>
          <a:p>
            <a:pPr marR="0" lvl="0" algn="just" defTabSz="914400" rtl="0" eaLnBrk="1" fontAlgn="auto" latinLnBrk="0" hangingPunct="1">
              <a:lnSpc>
                <a:spcPct val="150000"/>
              </a:lnSpc>
              <a:spcBef>
                <a:spcPts val="0"/>
              </a:spcBef>
              <a:spcAft>
                <a:spcPts val="800"/>
              </a:spcAft>
              <a:buClrTx/>
              <a:buSzTx/>
              <a:tabLst/>
              <a:defRPr/>
            </a:pPr>
            <a:r>
              <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2. Dentro del método enviar solicitud, en </a:t>
            </a:r>
            <a:r>
              <a:rPr kumimoji="0" lang="es-MX"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const</a:t>
            </a:r>
            <a:r>
              <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se define el estado inicial para todas las </a:t>
            </a:r>
            <a:r>
              <a:rPr kumimoji="0" lang="es-MX"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solicitude</a:t>
            </a:r>
            <a:r>
              <a:rPr lang="es-MX" dirty="0">
                <a:solidFill>
                  <a:prstClr val="black"/>
                </a:solidFill>
                <a:latin typeface="Arial" panose="020B0604020202020204" pitchFamily="34" charset="0"/>
                <a:ea typeface="Aptos" panose="020B0004020202020204" pitchFamily="34" charset="0"/>
                <a:cs typeface="Arial" panose="020B0604020202020204" pitchFamily="34" charset="0"/>
              </a:rPr>
              <a:t>s </a:t>
            </a:r>
            <a:r>
              <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como "pendiente“, esto cambiará cuando el administrador interactúe con ella.</a:t>
            </a:r>
          </a:p>
        </p:txBody>
      </p:sp>
      <p:pic>
        <p:nvPicPr>
          <p:cNvPr id="3" name="Imagen 2">
            <a:extLst>
              <a:ext uri="{FF2B5EF4-FFF2-40B4-BE49-F238E27FC236}">
                <a16:creationId xmlns:a16="http://schemas.microsoft.com/office/drawing/2014/main" id="{71A7EDD0-0E63-4931-8453-F48DA10BBFD6}"/>
              </a:ext>
            </a:extLst>
          </p:cNvPr>
          <p:cNvPicPr>
            <a:picLocks noChangeAspect="1"/>
          </p:cNvPicPr>
          <p:nvPr/>
        </p:nvPicPr>
        <p:blipFill rotWithShape="1">
          <a:blip r:embed="rId2"/>
          <a:srcRect l="24044" t="4488" r="8676" b="25477"/>
          <a:stretch/>
        </p:blipFill>
        <p:spPr>
          <a:xfrm>
            <a:off x="5983666" y="455610"/>
            <a:ext cx="5053156" cy="2957339"/>
          </a:xfrm>
          <a:prstGeom prst="rect">
            <a:avLst/>
          </a:prstGeom>
        </p:spPr>
      </p:pic>
      <p:pic>
        <p:nvPicPr>
          <p:cNvPr id="10" name="Imagen 9">
            <a:extLst>
              <a:ext uri="{FF2B5EF4-FFF2-40B4-BE49-F238E27FC236}">
                <a16:creationId xmlns:a16="http://schemas.microsoft.com/office/drawing/2014/main" id="{E3381FF2-326B-42DA-B69E-D1F9267A060F}"/>
              </a:ext>
            </a:extLst>
          </p:cNvPr>
          <p:cNvPicPr>
            <a:picLocks noChangeAspect="1"/>
          </p:cNvPicPr>
          <p:nvPr/>
        </p:nvPicPr>
        <p:blipFill rotWithShape="1">
          <a:blip r:embed="rId3"/>
          <a:srcRect l="20952" t="3575" r="20119" b="28667"/>
          <a:stretch/>
        </p:blipFill>
        <p:spPr>
          <a:xfrm>
            <a:off x="6208333" y="3600028"/>
            <a:ext cx="4828489" cy="3121447"/>
          </a:xfrm>
          <a:prstGeom prst="rect">
            <a:avLst/>
          </a:prstGeom>
        </p:spPr>
      </p:pic>
    </p:spTree>
    <p:extLst>
      <p:ext uri="{BB962C8B-B14F-4D97-AF65-F5344CB8AC3E}">
        <p14:creationId xmlns:p14="http://schemas.microsoft.com/office/powerpoint/2010/main" val="3791828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851D9036-0E87-4F53-988F-8FD9D1C49196}"/>
              </a:ext>
            </a:extLst>
          </p:cNvPr>
          <p:cNvSpPr>
            <a:spLocks noGrp="1"/>
          </p:cNvSpPr>
          <p:nvPr>
            <p:ph type="sldNum" sz="quarter" idx="12"/>
          </p:nvPr>
        </p:nvSpPr>
        <p:spPr/>
        <p:txBody>
          <a:bodyPr/>
          <a:lstStyle/>
          <a:p>
            <a:fld id="{90A5DFEB-E07E-4B57-AD4A-E6E5A3B83734}" type="slidenum">
              <a:rPr lang="es-MX" smtClean="0"/>
              <a:t>13</a:t>
            </a:fld>
            <a:endParaRPr lang="es-MX"/>
          </a:p>
        </p:txBody>
      </p:sp>
      <p:pic>
        <p:nvPicPr>
          <p:cNvPr id="5" name="Imagen 4">
            <a:extLst>
              <a:ext uri="{FF2B5EF4-FFF2-40B4-BE49-F238E27FC236}">
                <a16:creationId xmlns:a16="http://schemas.microsoft.com/office/drawing/2014/main" id="{BC289D21-75FC-4F76-9E03-572B476CCC7D}"/>
              </a:ext>
            </a:extLst>
          </p:cNvPr>
          <p:cNvPicPr>
            <a:picLocks noChangeAspect="1"/>
          </p:cNvPicPr>
          <p:nvPr/>
        </p:nvPicPr>
        <p:blipFill rotWithShape="1">
          <a:blip r:embed="rId2"/>
          <a:srcRect l="4434" t="6430" r="12892" b="11017"/>
          <a:stretch/>
        </p:blipFill>
        <p:spPr>
          <a:xfrm>
            <a:off x="5748932" y="1326243"/>
            <a:ext cx="5723335" cy="3213100"/>
          </a:xfrm>
          <a:prstGeom prst="rect">
            <a:avLst/>
          </a:prstGeom>
        </p:spPr>
      </p:pic>
      <p:sp>
        <p:nvSpPr>
          <p:cNvPr id="6" name="CuadroTexto 5">
            <a:extLst>
              <a:ext uri="{FF2B5EF4-FFF2-40B4-BE49-F238E27FC236}">
                <a16:creationId xmlns:a16="http://schemas.microsoft.com/office/drawing/2014/main" id="{F67EDEB5-51C2-451B-9956-DD426A9A4955}"/>
              </a:ext>
            </a:extLst>
          </p:cNvPr>
          <p:cNvSpPr txBox="1"/>
          <p:nvPr/>
        </p:nvSpPr>
        <p:spPr>
          <a:xfrm>
            <a:off x="853516" y="953301"/>
            <a:ext cx="4068108" cy="4816703"/>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Enviar requisitos solicitados</a:t>
            </a:r>
          </a:p>
          <a:p>
            <a:pPr marL="342900" marR="0" lvl="0" indent="-342900" algn="just" defTabSz="914400" rtl="0" eaLnBrk="1" fontAlgn="auto" latinLnBrk="0" hangingPunct="1">
              <a:lnSpc>
                <a:spcPct val="150000"/>
              </a:lnSpc>
              <a:spcBef>
                <a:spcPts val="0"/>
              </a:spcBef>
              <a:spcAft>
                <a:spcPts val="800"/>
              </a:spcAft>
              <a:buClrTx/>
              <a:buSzTx/>
              <a:buAutoNum type="arabicPeriod"/>
              <a:tabLst/>
              <a:defRPr/>
            </a:pPr>
            <a:r>
              <a:rPr lang="es-MX" dirty="0">
                <a:solidFill>
                  <a:prstClr val="black"/>
                </a:solidFill>
                <a:latin typeface="Arial" panose="020B0604020202020204" pitchFamily="34" charset="0"/>
                <a:ea typeface="Aptos" panose="020B0004020202020204" pitchFamily="34" charset="0"/>
                <a:cs typeface="Arial" panose="020B0604020202020204" pitchFamily="34" charset="0"/>
              </a:rPr>
              <a:t>Para mejorar la aplicación web se pretende aplicar esta función para que el administrador visualice los datos solicitados para elaborar el documento. En este caso por el momento solo se configuró en el lado del alumno.</a:t>
            </a:r>
          </a:p>
          <a:p>
            <a:pPr marL="342900" marR="0" lvl="0" indent="-342900" algn="just" defTabSz="914400" rtl="0" eaLnBrk="1" fontAlgn="auto" latinLnBrk="0" hangingPunct="1">
              <a:lnSpc>
                <a:spcPct val="150000"/>
              </a:lnSpc>
              <a:spcBef>
                <a:spcPts val="0"/>
              </a:spcBef>
              <a:spcAft>
                <a:spcPts val="800"/>
              </a:spcAft>
              <a:buClrTx/>
              <a:buSzTx/>
              <a:buAutoNum type="arabicPeriod"/>
              <a:tabLst/>
              <a:defRPr/>
            </a:pPr>
            <a:r>
              <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Para seguir con esta propuesta se creó un </a:t>
            </a:r>
            <a:r>
              <a:rPr kumimoji="0" lang="es-MX"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bucket</a:t>
            </a:r>
            <a:r>
              <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en </a:t>
            </a:r>
            <a:r>
              <a:rPr kumimoji="0" lang="es-MX"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storage</a:t>
            </a:r>
            <a:r>
              <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de </a:t>
            </a:r>
            <a:r>
              <a:rPr kumimoji="0" lang="es-MX"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Supabase</a:t>
            </a:r>
            <a:r>
              <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a:t>
            </a:r>
          </a:p>
        </p:txBody>
      </p:sp>
    </p:spTree>
    <p:extLst>
      <p:ext uri="{BB962C8B-B14F-4D97-AF65-F5344CB8AC3E}">
        <p14:creationId xmlns:p14="http://schemas.microsoft.com/office/powerpoint/2010/main" val="2734130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851D9036-0E87-4F53-988F-8FD9D1C49196}"/>
              </a:ext>
            </a:extLst>
          </p:cNvPr>
          <p:cNvSpPr>
            <a:spLocks noGrp="1"/>
          </p:cNvSpPr>
          <p:nvPr>
            <p:ph type="sldNum" sz="quarter" idx="12"/>
          </p:nvPr>
        </p:nvSpPr>
        <p:spPr/>
        <p:txBody>
          <a:bodyPr/>
          <a:lstStyle/>
          <a:p>
            <a:fld id="{90A5DFEB-E07E-4B57-AD4A-E6E5A3B83734}" type="slidenum">
              <a:rPr lang="es-MX" smtClean="0"/>
              <a:t>14</a:t>
            </a:fld>
            <a:endParaRPr lang="es-MX"/>
          </a:p>
        </p:txBody>
      </p:sp>
      <p:sp>
        <p:nvSpPr>
          <p:cNvPr id="6" name="CuadroTexto 5">
            <a:extLst>
              <a:ext uri="{FF2B5EF4-FFF2-40B4-BE49-F238E27FC236}">
                <a16:creationId xmlns:a16="http://schemas.microsoft.com/office/drawing/2014/main" id="{F67EDEB5-51C2-451B-9956-DD426A9A4955}"/>
              </a:ext>
            </a:extLst>
          </p:cNvPr>
          <p:cNvSpPr txBox="1"/>
          <p:nvPr/>
        </p:nvSpPr>
        <p:spPr>
          <a:xfrm>
            <a:off x="853516" y="953301"/>
            <a:ext cx="4068108" cy="4503797"/>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Enviar requisitos solicitados</a:t>
            </a:r>
          </a:p>
          <a:p>
            <a:pPr marL="342900" marR="0" lvl="0" indent="-342900" algn="just" defTabSz="914400" rtl="0" eaLnBrk="1" fontAlgn="auto" latinLnBrk="0" hangingPunct="1">
              <a:lnSpc>
                <a:spcPct val="150000"/>
              </a:lnSpc>
              <a:spcBef>
                <a:spcPts val="0"/>
              </a:spcBef>
              <a:spcAft>
                <a:spcPts val="800"/>
              </a:spcAft>
              <a:buClrTx/>
              <a:buSzTx/>
              <a:buAutoNum type="arabicPeriod"/>
              <a:tabLst/>
              <a:defRPr/>
            </a:pPr>
            <a:r>
              <a:rPr lang="es-MX" dirty="0">
                <a:solidFill>
                  <a:prstClr val="black"/>
                </a:solidFill>
                <a:latin typeface="Arial" panose="020B0604020202020204" pitchFamily="34" charset="0"/>
                <a:ea typeface="Aptos" panose="020B0004020202020204" pitchFamily="34" charset="0"/>
                <a:cs typeface="Arial" panose="020B0604020202020204" pitchFamily="34" charset="0"/>
              </a:rPr>
              <a:t>El </a:t>
            </a:r>
            <a:r>
              <a:rPr lang="es-MX" dirty="0" err="1">
                <a:solidFill>
                  <a:prstClr val="black"/>
                </a:solidFill>
                <a:latin typeface="Arial" panose="020B0604020202020204" pitchFamily="34" charset="0"/>
                <a:ea typeface="Aptos" panose="020B0004020202020204" pitchFamily="34" charset="0"/>
                <a:cs typeface="Arial" panose="020B0604020202020204" pitchFamily="34" charset="0"/>
              </a:rPr>
              <a:t>bucket</a:t>
            </a:r>
            <a:r>
              <a:rPr lang="es-MX" dirty="0">
                <a:solidFill>
                  <a:prstClr val="black"/>
                </a:solidFill>
                <a:latin typeface="Arial" panose="020B0604020202020204" pitchFamily="34" charset="0"/>
                <a:ea typeface="Aptos" panose="020B0004020202020204" pitchFamily="34" charset="0"/>
                <a:cs typeface="Arial" panose="020B0604020202020204" pitchFamily="34" charset="0"/>
              </a:rPr>
              <a:t> se nombró “documentos”.</a:t>
            </a:r>
          </a:p>
          <a:p>
            <a:pPr marL="342900" marR="0" lvl="0" indent="-342900" algn="just" defTabSz="914400" rtl="0" eaLnBrk="1" fontAlgn="auto" latinLnBrk="0" hangingPunct="1">
              <a:lnSpc>
                <a:spcPct val="150000"/>
              </a:lnSpc>
              <a:spcBef>
                <a:spcPts val="0"/>
              </a:spcBef>
              <a:spcAft>
                <a:spcPts val="800"/>
              </a:spcAft>
              <a:buClrTx/>
              <a:buSzTx/>
              <a:buAutoNum type="arabicPeriod"/>
              <a:tabLst/>
              <a:defRPr/>
            </a:pPr>
            <a:r>
              <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También se dejaron las configuraciones por defecto.</a:t>
            </a:r>
          </a:p>
          <a:p>
            <a:pPr marL="342900" marR="0" lvl="0" indent="-342900" algn="just" defTabSz="914400" rtl="0" eaLnBrk="1" fontAlgn="auto" latinLnBrk="0" hangingPunct="1">
              <a:lnSpc>
                <a:spcPct val="150000"/>
              </a:lnSpc>
              <a:spcBef>
                <a:spcPts val="0"/>
              </a:spcBef>
              <a:spcAft>
                <a:spcPts val="800"/>
              </a:spcAft>
              <a:buClrTx/>
              <a:buSzTx/>
              <a:buAutoNum type="arabicPeriod"/>
              <a:tabLst/>
              <a:defRPr/>
            </a:pPr>
            <a:r>
              <a:rPr lang="es-MX" dirty="0">
                <a:solidFill>
                  <a:prstClr val="black"/>
                </a:solidFill>
                <a:latin typeface="Arial" panose="020B0604020202020204" pitchFamily="34" charset="0"/>
                <a:ea typeface="Aptos" panose="020B0004020202020204" pitchFamily="34" charset="0"/>
                <a:cs typeface="Arial" panose="020B0604020202020204" pitchFamily="34" charset="0"/>
              </a:rPr>
              <a:t>En políticas se especificó que el usuario tiene permiso de subir, descargar y editar documentos, siempre y cuando sea un usuario autenticado.</a:t>
            </a:r>
            <a:endPar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p:txBody>
      </p:sp>
      <p:pic>
        <p:nvPicPr>
          <p:cNvPr id="7" name="Imagen 6">
            <a:extLst>
              <a:ext uri="{FF2B5EF4-FFF2-40B4-BE49-F238E27FC236}">
                <a16:creationId xmlns:a16="http://schemas.microsoft.com/office/drawing/2014/main" id="{A6299466-CC06-4833-9191-0401C3BCB8B3}"/>
              </a:ext>
            </a:extLst>
          </p:cNvPr>
          <p:cNvPicPr>
            <a:picLocks noChangeAspect="1"/>
          </p:cNvPicPr>
          <p:nvPr/>
        </p:nvPicPr>
        <p:blipFill rotWithShape="1">
          <a:blip r:embed="rId2"/>
          <a:srcRect l="7785" t="5643" r="8185" b="11431"/>
          <a:stretch/>
        </p:blipFill>
        <p:spPr>
          <a:xfrm>
            <a:off x="6096000" y="203201"/>
            <a:ext cx="5362690" cy="2975429"/>
          </a:xfrm>
          <a:prstGeom prst="rect">
            <a:avLst/>
          </a:prstGeom>
        </p:spPr>
      </p:pic>
      <p:pic>
        <p:nvPicPr>
          <p:cNvPr id="8" name="Imagen 7">
            <a:extLst>
              <a:ext uri="{FF2B5EF4-FFF2-40B4-BE49-F238E27FC236}">
                <a16:creationId xmlns:a16="http://schemas.microsoft.com/office/drawing/2014/main" id="{A86F7672-F3B8-4F16-B7DB-EF93F83BD103}"/>
              </a:ext>
            </a:extLst>
          </p:cNvPr>
          <p:cNvPicPr>
            <a:picLocks noChangeAspect="1"/>
          </p:cNvPicPr>
          <p:nvPr/>
        </p:nvPicPr>
        <p:blipFill rotWithShape="1">
          <a:blip r:embed="rId3"/>
          <a:srcRect l="6734" t="9847" r="2003" b="9229"/>
          <a:stretch/>
        </p:blipFill>
        <p:spPr>
          <a:xfrm>
            <a:off x="6360084" y="3537077"/>
            <a:ext cx="4978400" cy="2481942"/>
          </a:xfrm>
          <a:prstGeom prst="rect">
            <a:avLst/>
          </a:prstGeom>
        </p:spPr>
      </p:pic>
    </p:spTree>
    <p:extLst>
      <p:ext uri="{BB962C8B-B14F-4D97-AF65-F5344CB8AC3E}">
        <p14:creationId xmlns:p14="http://schemas.microsoft.com/office/powerpoint/2010/main" val="1458320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851D9036-0E87-4F53-988F-8FD9D1C49196}"/>
              </a:ext>
            </a:extLst>
          </p:cNvPr>
          <p:cNvSpPr>
            <a:spLocks noGrp="1"/>
          </p:cNvSpPr>
          <p:nvPr>
            <p:ph type="sldNum" sz="quarter" idx="12"/>
          </p:nvPr>
        </p:nvSpPr>
        <p:spPr/>
        <p:txBody>
          <a:bodyPr/>
          <a:lstStyle/>
          <a:p>
            <a:fld id="{90A5DFEB-E07E-4B57-AD4A-E6E5A3B83734}" type="slidenum">
              <a:rPr lang="es-MX" smtClean="0"/>
              <a:t>15</a:t>
            </a:fld>
            <a:endParaRPr lang="es-MX"/>
          </a:p>
        </p:txBody>
      </p:sp>
      <p:sp>
        <p:nvSpPr>
          <p:cNvPr id="5" name="CuadroTexto 4">
            <a:extLst>
              <a:ext uri="{FF2B5EF4-FFF2-40B4-BE49-F238E27FC236}">
                <a16:creationId xmlns:a16="http://schemas.microsoft.com/office/drawing/2014/main" id="{EA78528A-BC4F-45C8-AE8D-390765EB3F52}"/>
              </a:ext>
            </a:extLst>
          </p:cNvPr>
          <p:cNvSpPr txBox="1"/>
          <p:nvPr/>
        </p:nvSpPr>
        <p:spPr>
          <a:xfrm>
            <a:off x="1046167" y="891495"/>
            <a:ext cx="10099666" cy="2217082"/>
          </a:xfrm>
          <a:prstGeom prst="rect">
            <a:avLst/>
          </a:prstGeom>
          <a:noFill/>
        </p:spPr>
        <p:txBody>
          <a:bodyPr wrap="square">
            <a:spAutoFit/>
          </a:bodyPr>
          <a:lstStyle/>
          <a:p>
            <a:pPr lvl="1" algn="ctr">
              <a:lnSpc>
                <a:spcPct val="150000"/>
              </a:lnSpc>
              <a:spcAft>
                <a:spcPts val="800"/>
              </a:spcAft>
              <a:defRPr/>
            </a:pPr>
            <a:r>
              <a:rPr kumimoji="0" lang="es-MX" sz="32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APLICANDO SERVICIOS DE CÓMPUTO EN LA NUBE PARA EL DESPLIEGUE DE LA APLICACIÓN WEB</a:t>
            </a:r>
          </a:p>
        </p:txBody>
      </p:sp>
      <p:pic>
        <p:nvPicPr>
          <p:cNvPr id="7170" name="Picture 2" descr="Qué es Azure y para qué sirve? Por qué elegir la plataforma cloud de  Microsoft - Blog de hiberus">
            <a:extLst>
              <a:ext uri="{FF2B5EF4-FFF2-40B4-BE49-F238E27FC236}">
                <a16:creationId xmlns:a16="http://schemas.microsoft.com/office/drawing/2014/main" id="{3772684C-5B0A-49B6-864A-A2CC7B825B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24931" y="3429000"/>
            <a:ext cx="6142138" cy="22170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36116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arcador de número de diapositiva 7">
            <a:extLst>
              <a:ext uri="{FF2B5EF4-FFF2-40B4-BE49-F238E27FC236}">
                <a16:creationId xmlns:a16="http://schemas.microsoft.com/office/drawing/2014/main" id="{197D1D81-AAD6-4B14-AFF4-9DFBDE37F824}"/>
              </a:ext>
            </a:extLst>
          </p:cNvPr>
          <p:cNvSpPr>
            <a:spLocks noGrp="1"/>
          </p:cNvSpPr>
          <p:nvPr>
            <p:ph type="sldNum" sz="quarter" idx="12"/>
          </p:nvPr>
        </p:nvSpPr>
        <p:spPr/>
        <p:txBody>
          <a:bodyPr/>
          <a:lstStyle/>
          <a:p>
            <a:fld id="{90A5DFEB-E07E-4B57-AD4A-E6E5A3B83734}" type="slidenum">
              <a:rPr lang="es-MX" smtClean="0"/>
              <a:t>16</a:t>
            </a:fld>
            <a:endParaRPr lang="es-MX"/>
          </a:p>
        </p:txBody>
      </p:sp>
      <p:sp>
        <p:nvSpPr>
          <p:cNvPr id="9" name="CuadroTexto 8">
            <a:extLst>
              <a:ext uri="{FF2B5EF4-FFF2-40B4-BE49-F238E27FC236}">
                <a16:creationId xmlns:a16="http://schemas.microsoft.com/office/drawing/2014/main" id="{6D01E51C-8E4B-4736-A160-4F62493D3029}"/>
              </a:ext>
            </a:extLst>
          </p:cNvPr>
          <p:cNvSpPr txBox="1"/>
          <p:nvPr/>
        </p:nvSpPr>
        <p:spPr>
          <a:xfrm>
            <a:off x="1046167" y="891495"/>
            <a:ext cx="10099666" cy="2795637"/>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800"/>
              </a:spcAft>
              <a:buClrTx/>
              <a:buSzTx/>
              <a:buFontTx/>
              <a:buNone/>
              <a:tabLst/>
              <a:defRPr/>
            </a:pPr>
            <a:r>
              <a:rPr lang="es-MX" sz="1600" b="1" dirty="0">
                <a:solidFill>
                  <a:prstClr val="black"/>
                </a:solidFill>
                <a:latin typeface="Arial" panose="020B0604020202020204" pitchFamily="34" charset="0"/>
                <a:ea typeface="Aptos" panose="020B0004020202020204" pitchFamily="34" charset="0"/>
                <a:cs typeface="Arial" panose="020B0604020202020204" pitchFamily="34" charset="0"/>
              </a:rPr>
              <a:t>Despliegue en Azure</a:t>
            </a: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endParaRPr>
          </a:p>
          <a:p>
            <a:pPr marL="342900" marR="0" lvl="0" indent="-342900" algn="just" defTabSz="914400" rtl="0" eaLnBrk="1" fontAlgn="auto" latinLnBrk="0" hangingPunct="1">
              <a:lnSpc>
                <a:spcPct val="150000"/>
              </a:lnSpc>
              <a:spcBef>
                <a:spcPts val="0"/>
              </a:spcBef>
              <a:spcAft>
                <a:spcPts val="800"/>
              </a:spcAft>
              <a:buClrTx/>
              <a:buSzTx/>
              <a:buFontTx/>
              <a:buAutoNum type="arabicPeriod"/>
              <a:tabLst/>
              <a:defRPr/>
            </a:pPr>
            <a:r>
              <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Se utilizó el servicio App </a:t>
            </a:r>
            <a:r>
              <a:rPr kumimoji="0" lang="es-MX" sz="1800" b="0" i="0" u="none" strike="noStrike" kern="1200" cap="none" spc="0" normalizeH="0" baseline="0" noProof="0" dirty="0" err="1">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Service</a:t>
            </a:r>
            <a:r>
              <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 para crear una nueva aplicación web. </a:t>
            </a:r>
          </a:p>
          <a:p>
            <a:pPr marL="342900" marR="0" lvl="0" indent="-342900" algn="just" defTabSz="914400" rtl="0" eaLnBrk="1" fontAlgn="auto" latinLnBrk="0" hangingPunct="1">
              <a:lnSpc>
                <a:spcPct val="150000"/>
              </a:lnSpc>
              <a:spcBef>
                <a:spcPts val="0"/>
              </a:spcBef>
              <a:spcAft>
                <a:spcPts val="800"/>
              </a:spcAft>
              <a:buClrTx/>
              <a:buSzTx/>
              <a:buFontTx/>
              <a:buAutoNum type="arabicPeriod"/>
              <a:tabLst/>
              <a:defRPr/>
            </a:pPr>
            <a:r>
              <a:rPr lang="es-MX" dirty="0">
                <a:solidFill>
                  <a:prstClr val="black"/>
                </a:solidFill>
                <a:latin typeface="Arial" panose="020B0604020202020204" pitchFamily="34" charset="0"/>
                <a:ea typeface="Calibri" panose="020F0502020204030204" pitchFamily="34" charset="0"/>
                <a:cs typeface="Arial" panose="020B0604020202020204" pitchFamily="34" charset="0"/>
              </a:rPr>
              <a:t>Para completar los campos necesarios se creó un nuevo grupo de recursos para alojar esta aplicación. Además de nombrar la aplicación, también se eligió el entorno de ejecución; </a:t>
            </a:r>
          </a:p>
          <a:p>
            <a:pPr marL="342900" marR="0" lvl="0" indent="-342900" algn="just" defTabSz="914400" rtl="0" eaLnBrk="1" fontAlgn="auto" latinLnBrk="0" hangingPunct="1">
              <a:lnSpc>
                <a:spcPct val="150000"/>
              </a:lnSpc>
              <a:spcBef>
                <a:spcPts val="0"/>
              </a:spcBef>
              <a:spcAft>
                <a:spcPts val="800"/>
              </a:spcAft>
              <a:buClrTx/>
              <a:buSzTx/>
              <a:buFontTx/>
              <a:buAutoNum type="arabicPeriod"/>
              <a:tabLst/>
              <a:defRPr/>
            </a:pPr>
            <a:r>
              <a:rPr lang="es-MX" dirty="0">
                <a:solidFill>
                  <a:prstClr val="black"/>
                </a:solidFill>
                <a:latin typeface="Arial" panose="020B0604020202020204" pitchFamily="34" charset="0"/>
                <a:ea typeface="Calibri" panose="020F0502020204030204" pitchFamily="34" charset="0"/>
                <a:cs typeface="Arial" panose="020B0604020202020204" pitchFamily="34" charset="0"/>
              </a:rPr>
              <a:t>para este caso el proyecto que se utilizó fue desarrollado con Angular y una base de datos en </a:t>
            </a:r>
            <a:r>
              <a:rPr lang="es-MX" dirty="0" err="1">
                <a:solidFill>
                  <a:prstClr val="black"/>
                </a:solidFill>
                <a:latin typeface="Arial" panose="020B0604020202020204" pitchFamily="34" charset="0"/>
                <a:ea typeface="Calibri" panose="020F0502020204030204" pitchFamily="34" charset="0"/>
                <a:cs typeface="Arial" panose="020B0604020202020204" pitchFamily="34" charset="0"/>
              </a:rPr>
              <a:t>Supabase</a:t>
            </a:r>
            <a:r>
              <a:rPr lang="es-MX" dirty="0">
                <a:solidFill>
                  <a:prstClr val="black"/>
                </a:solidFill>
                <a:latin typeface="Arial" panose="020B0604020202020204" pitchFamily="34" charset="0"/>
                <a:ea typeface="Calibri" panose="020F0502020204030204" pitchFamily="34" charset="0"/>
                <a:cs typeface="Arial" panose="020B0604020202020204" pitchFamily="34" charset="0"/>
              </a:rPr>
              <a:t>, por lo tanto, se eligió la opción </a:t>
            </a:r>
            <a:r>
              <a:rPr lang="es-MX" dirty="0" err="1">
                <a:solidFill>
                  <a:prstClr val="black"/>
                </a:solidFill>
                <a:latin typeface="Arial" panose="020B0604020202020204" pitchFamily="34" charset="0"/>
                <a:ea typeface="Calibri" panose="020F0502020204030204" pitchFamily="34" charset="0"/>
                <a:cs typeface="Arial" panose="020B0604020202020204" pitchFamily="34" charset="0"/>
              </a:rPr>
              <a:t>Node</a:t>
            </a:r>
            <a:r>
              <a:rPr lang="es-MX" dirty="0">
                <a:solidFill>
                  <a:prstClr val="black"/>
                </a:solidFill>
                <a:latin typeface="Arial" panose="020B0604020202020204" pitchFamily="34" charset="0"/>
                <a:ea typeface="Calibri" panose="020F0502020204030204" pitchFamily="34" charset="0"/>
                <a:cs typeface="Arial" panose="020B0604020202020204" pitchFamily="34" charset="0"/>
              </a:rPr>
              <a:t> 22 LTS.</a:t>
            </a:r>
            <a:endParaRPr kumimoji="0" lang="es-MX" sz="12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p:txBody>
      </p:sp>
      <p:pic>
        <p:nvPicPr>
          <p:cNvPr id="4" name="Imagen 3">
            <a:extLst>
              <a:ext uri="{FF2B5EF4-FFF2-40B4-BE49-F238E27FC236}">
                <a16:creationId xmlns:a16="http://schemas.microsoft.com/office/drawing/2014/main" id="{09DED773-EF3E-419A-B9A8-29E7C5C0A7C4}"/>
              </a:ext>
            </a:extLst>
          </p:cNvPr>
          <p:cNvPicPr/>
          <p:nvPr/>
        </p:nvPicPr>
        <p:blipFill rotWithShape="1">
          <a:blip r:embed="rId2"/>
          <a:srcRect b="32741"/>
          <a:stretch/>
        </p:blipFill>
        <p:spPr bwMode="auto">
          <a:xfrm>
            <a:off x="713822" y="3941104"/>
            <a:ext cx="5612130" cy="2122170"/>
          </a:xfrm>
          <a:prstGeom prst="rect">
            <a:avLst/>
          </a:prstGeom>
          <a:ln>
            <a:noFill/>
          </a:ln>
          <a:extLst>
            <a:ext uri="{53640926-AAD7-44D8-BBD7-CCE9431645EC}">
              <a14:shadowObscured xmlns:a14="http://schemas.microsoft.com/office/drawing/2010/main"/>
            </a:ext>
          </a:extLst>
        </p:spPr>
      </p:pic>
      <p:pic>
        <p:nvPicPr>
          <p:cNvPr id="5" name="Imagen 4">
            <a:extLst>
              <a:ext uri="{FF2B5EF4-FFF2-40B4-BE49-F238E27FC236}">
                <a16:creationId xmlns:a16="http://schemas.microsoft.com/office/drawing/2014/main" id="{048F60D7-0BE8-4160-A747-E6A642C77C81}"/>
              </a:ext>
            </a:extLst>
          </p:cNvPr>
          <p:cNvPicPr/>
          <p:nvPr/>
        </p:nvPicPr>
        <p:blipFill rotWithShape="1">
          <a:blip r:embed="rId3"/>
          <a:srcRect b="7438"/>
          <a:stretch/>
        </p:blipFill>
        <p:spPr bwMode="auto">
          <a:xfrm>
            <a:off x="6720113" y="3941104"/>
            <a:ext cx="4194630" cy="1972286"/>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3520947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arcador de número de diapositiva 7">
            <a:extLst>
              <a:ext uri="{FF2B5EF4-FFF2-40B4-BE49-F238E27FC236}">
                <a16:creationId xmlns:a16="http://schemas.microsoft.com/office/drawing/2014/main" id="{197D1D81-AAD6-4B14-AFF4-9DFBDE37F824}"/>
              </a:ext>
            </a:extLst>
          </p:cNvPr>
          <p:cNvSpPr>
            <a:spLocks noGrp="1"/>
          </p:cNvSpPr>
          <p:nvPr>
            <p:ph type="sldNum" sz="quarter" idx="12"/>
          </p:nvPr>
        </p:nvSpPr>
        <p:spPr/>
        <p:txBody>
          <a:bodyPr/>
          <a:lstStyle/>
          <a:p>
            <a:fld id="{90A5DFEB-E07E-4B57-AD4A-E6E5A3B83734}" type="slidenum">
              <a:rPr lang="es-MX" smtClean="0"/>
              <a:t>17</a:t>
            </a:fld>
            <a:endParaRPr lang="es-MX"/>
          </a:p>
        </p:txBody>
      </p:sp>
      <p:sp>
        <p:nvSpPr>
          <p:cNvPr id="9" name="CuadroTexto 8">
            <a:extLst>
              <a:ext uri="{FF2B5EF4-FFF2-40B4-BE49-F238E27FC236}">
                <a16:creationId xmlns:a16="http://schemas.microsoft.com/office/drawing/2014/main" id="{6D01E51C-8E4B-4736-A160-4F62493D3029}"/>
              </a:ext>
            </a:extLst>
          </p:cNvPr>
          <p:cNvSpPr txBox="1"/>
          <p:nvPr/>
        </p:nvSpPr>
        <p:spPr>
          <a:xfrm>
            <a:off x="1177293" y="757162"/>
            <a:ext cx="10176507" cy="3313728"/>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800"/>
              </a:spcAft>
              <a:buClrTx/>
              <a:buSzTx/>
              <a:buFontTx/>
              <a:buNone/>
              <a:tabLst/>
              <a:defRPr/>
            </a:pPr>
            <a:r>
              <a:rPr lang="es-MX" sz="1600" b="1" dirty="0">
                <a:solidFill>
                  <a:prstClr val="black"/>
                </a:solidFill>
                <a:latin typeface="Arial" panose="020B0604020202020204" pitchFamily="34" charset="0"/>
                <a:ea typeface="Aptos" panose="020B0004020202020204" pitchFamily="34" charset="0"/>
                <a:cs typeface="Arial" panose="020B0604020202020204" pitchFamily="34" charset="0"/>
              </a:rPr>
              <a:t>Despliegue en Azure</a:t>
            </a: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endParaRPr>
          </a:p>
          <a:p>
            <a:pPr marR="0" lvl="0" algn="just" defTabSz="914400" rtl="0" eaLnBrk="1" fontAlgn="auto" latinLnBrk="0" hangingPunct="1">
              <a:lnSpc>
                <a:spcPct val="150000"/>
              </a:lnSpc>
              <a:spcBef>
                <a:spcPts val="0"/>
              </a:spcBef>
              <a:spcAft>
                <a:spcPts val="800"/>
              </a:spcAft>
              <a:buClrTx/>
              <a:buSzTx/>
              <a:tabLst/>
              <a:defRPr/>
            </a:pPr>
            <a:r>
              <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5. Al terminar el proceso de implementación se observó la generación del dominio de la página web.</a:t>
            </a:r>
          </a:p>
          <a:p>
            <a:pPr marR="0" lvl="0" algn="just" defTabSz="914400" rtl="0" eaLnBrk="1" fontAlgn="auto" latinLnBrk="0" hangingPunct="1">
              <a:lnSpc>
                <a:spcPct val="150000"/>
              </a:lnSpc>
              <a:spcBef>
                <a:spcPts val="0"/>
              </a:spcBef>
              <a:spcAft>
                <a:spcPts val="800"/>
              </a:spcAft>
              <a:buClrTx/>
              <a:buSzTx/>
              <a:tabLst/>
              <a:defRPr/>
            </a:pPr>
            <a:r>
              <a:rPr lang="es-MX" dirty="0">
                <a:solidFill>
                  <a:prstClr val="black"/>
                </a:solidFill>
                <a:latin typeface="Arial" panose="020B0604020202020204" pitchFamily="34" charset="0"/>
                <a:ea typeface="Calibri" panose="020F0502020204030204" pitchFamily="34" charset="0"/>
                <a:cs typeface="Arial" panose="020B0604020202020204" pitchFamily="34" charset="0"/>
              </a:rPr>
              <a:t>6. El código fuente no se subió directamente, sino que se preparó un paquete optimizado para producción. Para esto nos dirigimos a la carpeta del proyecto dentro de </a:t>
            </a:r>
            <a:r>
              <a:rPr lang="es-MX" dirty="0" err="1">
                <a:solidFill>
                  <a:prstClr val="black"/>
                </a:solidFill>
                <a:latin typeface="Arial" panose="020B0604020202020204" pitchFamily="34" charset="0"/>
                <a:ea typeface="Calibri" panose="020F0502020204030204" pitchFamily="34" charset="0"/>
                <a:cs typeface="Arial" panose="020B0604020202020204" pitchFamily="34" charset="0"/>
              </a:rPr>
              <a:t>Visul</a:t>
            </a:r>
            <a:r>
              <a:rPr lang="es-MX" dirty="0">
                <a:solidFill>
                  <a:prstClr val="black"/>
                </a:solidFill>
                <a:latin typeface="Arial" panose="020B0604020202020204" pitchFamily="34" charset="0"/>
                <a:ea typeface="Calibri" panose="020F0502020204030204" pitchFamily="34" charset="0"/>
                <a:cs typeface="Arial" panose="020B0604020202020204" pitchFamily="34" charset="0"/>
              </a:rPr>
              <a:t> Studio </a:t>
            </a:r>
            <a:r>
              <a:rPr lang="es-MX" dirty="0" err="1">
                <a:solidFill>
                  <a:prstClr val="black"/>
                </a:solidFill>
                <a:latin typeface="Arial" panose="020B0604020202020204" pitchFamily="34" charset="0"/>
                <a:ea typeface="Calibri" panose="020F0502020204030204" pitchFamily="34" charset="0"/>
                <a:cs typeface="Arial" panose="020B0604020202020204" pitchFamily="34" charset="0"/>
              </a:rPr>
              <a:t>Code</a:t>
            </a:r>
            <a:r>
              <a:rPr lang="es-MX" dirty="0">
                <a:solidFill>
                  <a:prstClr val="black"/>
                </a:solidFill>
                <a:latin typeface="Arial" panose="020B0604020202020204" pitchFamily="34" charset="0"/>
                <a:ea typeface="Calibri" panose="020F0502020204030204" pitchFamily="34" charset="0"/>
                <a:cs typeface="Arial" panose="020B0604020202020204" pitchFamily="34" charset="0"/>
              </a:rPr>
              <a:t>.</a:t>
            </a:r>
          </a:p>
          <a:p>
            <a:pPr marR="0" lvl="0" algn="just" defTabSz="914400" rtl="0" eaLnBrk="1" fontAlgn="auto" latinLnBrk="0" hangingPunct="1">
              <a:lnSpc>
                <a:spcPct val="150000"/>
              </a:lnSpc>
              <a:spcBef>
                <a:spcPts val="0"/>
              </a:spcBef>
              <a:spcAft>
                <a:spcPts val="800"/>
              </a:spcAft>
              <a:buClrTx/>
              <a:buSzTx/>
              <a:tabLst/>
              <a:defRPr/>
            </a:pPr>
            <a:r>
              <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7. Se abrió una nueva terminal y nos aseguramos de estar en la raíz del proyecto (solicita-</a:t>
            </a:r>
            <a:r>
              <a:rPr kumimoji="0" lang="es-MX"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tec</a:t>
            </a:r>
            <a:r>
              <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a:t>
            </a:r>
          </a:p>
          <a:p>
            <a:pPr marR="0" lvl="0" algn="just" defTabSz="914400" rtl="0" eaLnBrk="1" fontAlgn="auto" latinLnBrk="0" hangingPunct="1">
              <a:lnSpc>
                <a:spcPct val="150000"/>
              </a:lnSpc>
              <a:spcBef>
                <a:spcPts val="0"/>
              </a:spcBef>
              <a:spcAft>
                <a:spcPts val="800"/>
              </a:spcAft>
              <a:buClrTx/>
              <a:buSzTx/>
              <a:tabLst/>
              <a:defRPr/>
            </a:pPr>
            <a:endPar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p:txBody>
      </p:sp>
      <p:pic>
        <p:nvPicPr>
          <p:cNvPr id="4" name="Imagen 3">
            <a:extLst>
              <a:ext uri="{FF2B5EF4-FFF2-40B4-BE49-F238E27FC236}">
                <a16:creationId xmlns:a16="http://schemas.microsoft.com/office/drawing/2014/main" id="{8C4B645F-B2ED-4481-A3F6-1F24D244DC22}"/>
              </a:ext>
            </a:extLst>
          </p:cNvPr>
          <p:cNvPicPr/>
          <p:nvPr/>
        </p:nvPicPr>
        <p:blipFill rotWithShape="1">
          <a:blip r:embed="rId2"/>
          <a:srcRect t="20402" b="11048"/>
          <a:stretch/>
        </p:blipFill>
        <p:spPr bwMode="auto">
          <a:xfrm>
            <a:off x="653416" y="4070890"/>
            <a:ext cx="5612130" cy="2162810"/>
          </a:xfrm>
          <a:prstGeom prst="rect">
            <a:avLst/>
          </a:prstGeom>
          <a:ln>
            <a:noFill/>
          </a:ln>
          <a:extLst>
            <a:ext uri="{53640926-AAD7-44D8-BBD7-CCE9431645EC}">
              <a14:shadowObscured xmlns:a14="http://schemas.microsoft.com/office/drawing/2010/main"/>
            </a:ext>
          </a:extLst>
        </p:spPr>
      </p:pic>
      <p:pic>
        <p:nvPicPr>
          <p:cNvPr id="6" name="Imagen 5">
            <a:extLst>
              <a:ext uri="{FF2B5EF4-FFF2-40B4-BE49-F238E27FC236}">
                <a16:creationId xmlns:a16="http://schemas.microsoft.com/office/drawing/2014/main" id="{C9EDF744-3A1D-4771-AB48-306FB781F860}"/>
              </a:ext>
            </a:extLst>
          </p:cNvPr>
          <p:cNvPicPr/>
          <p:nvPr/>
        </p:nvPicPr>
        <p:blipFill rotWithShape="1">
          <a:blip r:embed="rId3"/>
          <a:srcRect b="24855"/>
          <a:stretch/>
        </p:blipFill>
        <p:spPr bwMode="auto">
          <a:xfrm>
            <a:off x="6850743" y="4290102"/>
            <a:ext cx="4242979" cy="1943598"/>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955905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arcador de número de diapositiva 7">
            <a:extLst>
              <a:ext uri="{FF2B5EF4-FFF2-40B4-BE49-F238E27FC236}">
                <a16:creationId xmlns:a16="http://schemas.microsoft.com/office/drawing/2014/main" id="{197D1D81-AAD6-4B14-AFF4-9DFBDE37F824}"/>
              </a:ext>
            </a:extLst>
          </p:cNvPr>
          <p:cNvSpPr>
            <a:spLocks noGrp="1"/>
          </p:cNvSpPr>
          <p:nvPr>
            <p:ph type="sldNum" sz="quarter" idx="12"/>
          </p:nvPr>
        </p:nvSpPr>
        <p:spPr/>
        <p:txBody>
          <a:bodyPr/>
          <a:lstStyle/>
          <a:p>
            <a:fld id="{90A5DFEB-E07E-4B57-AD4A-E6E5A3B83734}" type="slidenum">
              <a:rPr lang="es-MX" smtClean="0"/>
              <a:t>18</a:t>
            </a:fld>
            <a:endParaRPr lang="es-MX"/>
          </a:p>
        </p:txBody>
      </p:sp>
      <p:sp>
        <p:nvSpPr>
          <p:cNvPr id="9" name="CuadroTexto 8">
            <a:extLst>
              <a:ext uri="{FF2B5EF4-FFF2-40B4-BE49-F238E27FC236}">
                <a16:creationId xmlns:a16="http://schemas.microsoft.com/office/drawing/2014/main" id="{6D01E51C-8E4B-4736-A160-4F62493D3029}"/>
              </a:ext>
            </a:extLst>
          </p:cNvPr>
          <p:cNvSpPr txBox="1"/>
          <p:nvPr/>
        </p:nvSpPr>
        <p:spPr>
          <a:xfrm>
            <a:off x="680180" y="1221619"/>
            <a:ext cx="5415820" cy="4144724"/>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800"/>
              </a:spcAft>
              <a:buClrTx/>
              <a:buSzTx/>
              <a:buFontTx/>
              <a:buNone/>
              <a:tabLst/>
              <a:defRPr/>
            </a:pPr>
            <a:r>
              <a:rPr lang="es-MX" sz="1600" b="1" dirty="0">
                <a:solidFill>
                  <a:prstClr val="black"/>
                </a:solidFill>
                <a:latin typeface="Arial" panose="020B0604020202020204" pitchFamily="34" charset="0"/>
                <a:ea typeface="Aptos" panose="020B0004020202020204" pitchFamily="34" charset="0"/>
                <a:cs typeface="Arial" panose="020B0604020202020204" pitchFamily="34" charset="0"/>
              </a:rPr>
              <a:t>Despliegue en Azure</a:t>
            </a: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endParaRPr>
          </a:p>
          <a:p>
            <a:pPr lvl="0" algn="just">
              <a:lnSpc>
                <a:spcPct val="150000"/>
              </a:lnSpc>
              <a:spcAft>
                <a:spcPts val="800"/>
              </a:spcAft>
            </a:pPr>
            <a:r>
              <a:rPr lang="es-MX" sz="1800" dirty="0">
                <a:effectLst/>
                <a:latin typeface="Arial" panose="020B0604020202020204" pitchFamily="34" charset="0"/>
                <a:ea typeface="Calibri" panose="020F0502020204030204" pitchFamily="34" charset="0"/>
                <a:cs typeface="Times New Roman" panose="02020603050405020304" pitchFamily="18" charset="0"/>
              </a:rPr>
              <a:t>8. Una vez dentro del proyecto se ejecutó el comando: ng </a:t>
            </a:r>
            <a:r>
              <a:rPr lang="es-MX" sz="1800" dirty="0" err="1">
                <a:effectLst/>
                <a:latin typeface="Arial" panose="020B0604020202020204" pitchFamily="34" charset="0"/>
                <a:ea typeface="Calibri" panose="020F0502020204030204" pitchFamily="34" charset="0"/>
                <a:cs typeface="Times New Roman" panose="02020603050405020304" pitchFamily="18" charset="0"/>
              </a:rPr>
              <a:t>build</a:t>
            </a:r>
            <a:r>
              <a:rPr lang="es-MX" sz="1800" dirty="0">
                <a:effectLst/>
                <a:latin typeface="Arial" panose="020B0604020202020204" pitchFamily="34" charset="0"/>
                <a:ea typeface="Calibri" panose="020F0502020204030204" pitchFamily="34" charset="0"/>
                <a:cs typeface="Times New Roman" panose="02020603050405020304" pitchFamily="18" charset="0"/>
              </a:rPr>
              <a:t> --</a:t>
            </a:r>
            <a:r>
              <a:rPr lang="es-MX" sz="1800" dirty="0" err="1">
                <a:effectLst/>
                <a:latin typeface="Arial" panose="020B0604020202020204" pitchFamily="34" charset="0"/>
                <a:ea typeface="Calibri" panose="020F0502020204030204" pitchFamily="34" charset="0"/>
                <a:cs typeface="Times New Roman" panose="02020603050405020304" pitchFamily="18" charset="0"/>
              </a:rPr>
              <a:t>configuration</a:t>
            </a:r>
            <a:r>
              <a:rPr lang="es-MX" sz="1800" dirty="0">
                <a:effectLst/>
                <a:latin typeface="Arial" panose="020B0604020202020204" pitchFamily="34" charset="0"/>
                <a:ea typeface="Calibri" panose="020F0502020204030204" pitchFamily="34" charset="0"/>
                <a:cs typeface="Times New Roman" panose="02020603050405020304" pitchFamily="18" charset="0"/>
              </a:rPr>
              <a:t> </a:t>
            </a:r>
            <a:r>
              <a:rPr lang="es-MX" sz="1800" dirty="0" err="1">
                <a:effectLst/>
                <a:latin typeface="Arial" panose="020B0604020202020204" pitchFamily="34" charset="0"/>
                <a:ea typeface="Calibri" panose="020F0502020204030204" pitchFamily="34" charset="0"/>
                <a:cs typeface="Times New Roman" panose="02020603050405020304" pitchFamily="18" charset="0"/>
              </a:rPr>
              <a:t>production</a:t>
            </a:r>
            <a:r>
              <a:rPr lang="es-MX" sz="1800" dirty="0">
                <a:effectLst/>
                <a:latin typeface="Arial" panose="020B0604020202020204" pitchFamily="34" charset="0"/>
                <a:ea typeface="Calibri" panose="020F0502020204030204" pitchFamily="34" charset="0"/>
                <a:cs typeface="Times New Roman" panose="02020603050405020304" pitchFamily="18" charset="0"/>
              </a:rPr>
              <a:t>.</a:t>
            </a:r>
          </a:p>
          <a:p>
            <a:pPr algn="just">
              <a:lnSpc>
                <a:spcPct val="150000"/>
              </a:lnSpc>
              <a:spcAft>
                <a:spcPts val="800"/>
              </a:spcAft>
            </a:pPr>
            <a:r>
              <a:rPr lang="es-MX" sz="1800" dirty="0">
                <a:effectLst/>
                <a:latin typeface="Arial" panose="020B0604020202020204" pitchFamily="34" charset="0"/>
                <a:ea typeface="Calibri" panose="020F0502020204030204" pitchFamily="34" charset="0"/>
                <a:cs typeface="Times New Roman" panose="02020603050405020304" pitchFamily="18" charset="0"/>
              </a:rPr>
              <a:t>9. Con el comando anterior se creó una carpeta llamada </a:t>
            </a:r>
            <a:r>
              <a:rPr lang="es-MX" sz="1800" dirty="0" err="1">
                <a:effectLst/>
                <a:latin typeface="Arial" panose="020B0604020202020204" pitchFamily="34" charset="0"/>
                <a:ea typeface="Calibri" panose="020F0502020204030204" pitchFamily="34" charset="0"/>
                <a:cs typeface="Times New Roman" panose="02020603050405020304" pitchFamily="18" charset="0"/>
              </a:rPr>
              <a:t>dist</a:t>
            </a:r>
            <a:r>
              <a:rPr lang="es-MX" sz="1800" dirty="0">
                <a:effectLst/>
                <a:latin typeface="Arial" panose="020B0604020202020204" pitchFamily="34" charset="0"/>
                <a:ea typeface="Calibri" panose="020F0502020204030204" pitchFamily="34" charset="0"/>
                <a:cs typeface="Times New Roman" panose="02020603050405020304" pitchFamily="18" charset="0"/>
              </a:rPr>
              <a:t> en el proyecto, esta nueva carpeta contiene los archivos listos para subir, para que Azure pueda interpretarlos.</a:t>
            </a: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lvl="0" algn="just">
              <a:lnSpc>
                <a:spcPct val="150000"/>
              </a:lnSpc>
              <a:spcAft>
                <a:spcPts val="800"/>
              </a:spcAft>
            </a:pP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defTabSz="914400" rtl="0" eaLnBrk="1" fontAlgn="auto" latinLnBrk="0" hangingPunct="1">
              <a:lnSpc>
                <a:spcPct val="150000"/>
              </a:lnSpc>
              <a:spcBef>
                <a:spcPts val="0"/>
              </a:spcBef>
              <a:spcAft>
                <a:spcPts val="800"/>
              </a:spcAft>
              <a:buClrTx/>
              <a:buSzTx/>
              <a:tabLst/>
              <a:defRPr/>
            </a:pPr>
            <a:endPar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p:txBody>
      </p:sp>
      <p:pic>
        <p:nvPicPr>
          <p:cNvPr id="4" name="Imagen 3">
            <a:extLst>
              <a:ext uri="{FF2B5EF4-FFF2-40B4-BE49-F238E27FC236}">
                <a16:creationId xmlns:a16="http://schemas.microsoft.com/office/drawing/2014/main" id="{44CE2EE8-2994-4ADC-9A8D-05A91DD79F65}"/>
              </a:ext>
            </a:extLst>
          </p:cNvPr>
          <p:cNvPicPr/>
          <p:nvPr/>
        </p:nvPicPr>
        <p:blipFill rotWithShape="1">
          <a:blip r:embed="rId2"/>
          <a:srcRect b="16094"/>
          <a:stretch/>
        </p:blipFill>
        <p:spPr bwMode="auto">
          <a:xfrm>
            <a:off x="6360273" y="1698171"/>
            <a:ext cx="5202147" cy="258147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8709767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arcador de número de diapositiva 7">
            <a:extLst>
              <a:ext uri="{FF2B5EF4-FFF2-40B4-BE49-F238E27FC236}">
                <a16:creationId xmlns:a16="http://schemas.microsoft.com/office/drawing/2014/main" id="{197D1D81-AAD6-4B14-AFF4-9DFBDE37F824}"/>
              </a:ext>
            </a:extLst>
          </p:cNvPr>
          <p:cNvSpPr>
            <a:spLocks noGrp="1"/>
          </p:cNvSpPr>
          <p:nvPr>
            <p:ph type="sldNum" sz="quarter" idx="12"/>
          </p:nvPr>
        </p:nvSpPr>
        <p:spPr/>
        <p:txBody>
          <a:bodyPr/>
          <a:lstStyle/>
          <a:p>
            <a:fld id="{90A5DFEB-E07E-4B57-AD4A-E6E5A3B83734}" type="slidenum">
              <a:rPr lang="es-MX" smtClean="0"/>
              <a:t>19</a:t>
            </a:fld>
            <a:endParaRPr lang="es-MX"/>
          </a:p>
        </p:txBody>
      </p:sp>
      <p:sp>
        <p:nvSpPr>
          <p:cNvPr id="9" name="CuadroTexto 8">
            <a:extLst>
              <a:ext uri="{FF2B5EF4-FFF2-40B4-BE49-F238E27FC236}">
                <a16:creationId xmlns:a16="http://schemas.microsoft.com/office/drawing/2014/main" id="{6D01E51C-8E4B-4736-A160-4F62493D3029}"/>
              </a:ext>
            </a:extLst>
          </p:cNvPr>
          <p:cNvSpPr txBox="1"/>
          <p:nvPr/>
        </p:nvSpPr>
        <p:spPr>
          <a:xfrm>
            <a:off x="680180" y="1221619"/>
            <a:ext cx="5415820" cy="5391219"/>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800"/>
              </a:spcAft>
              <a:buClrTx/>
              <a:buSzTx/>
              <a:buFontTx/>
              <a:buNone/>
              <a:tabLst/>
              <a:defRPr/>
            </a:pPr>
            <a:r>
              <a:rPr lang="es-MX" sz="1600" b="1" dirty="0">
                <a:solidFill>
                  <a:prstClr val="black"/>
                </a:solidFill>
                <a:latin typeface="Arial" panose="020B0604020202020204" pitchFamily="34" charset="0"/>
                <a:ea typeface="Aptos" panose="020B0004020202020204" pitchFamily="34" charset="0"/>
                <a:cs typeface="Arial" panose="020B0604020202020204" pitchFamily="34" charset="0"/>
              </a:rPr>
              <a:t>Despliegue en Azure</a:t>
            </a: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endParaRPr>
          </a:p>
          <a:p>
            <a:pPr lvl="0" algn="just">
              <a:lnSpc>
                <a:spcPct val="150000"/>
              </a:lnSpc>
              <a:spcAft>
                <a:spcPts val="800"/>
              </a:spcAft>
            </a:pPr>
            <a:r>
              <a:rPr lang="es-MX" sz="1800" dirty="0">
                <a:effectLst/>
                <a:latin typeface="Arial" panose="020B0604020202020204" pitchFamily="34" charset="0"/>
                <a:ea typeface="Calibri" panose="020F0502020204030204" pitchFamily="34" charset="0"/>
                <a:cs typeface="Times New Roman" panose="02020603050405020304" pitchFamily="18" charset="0"/>
              </a:rPr>
              <a:t>10. Utilizando el enlace del dominio generado en Azure se accedió a la página, pero utilizando “</a:t>
            </a:r>
            <a:r>
              <a:rPr lang="es-MX" sz="1800" dirty="0" err="1">
                <a:effectLst/>
                <a:latin typeface="Arial" panose="020B0604020202020204" pitchFamily="34" charset="0"/>
                <a:ea typeface="Calibri" panose="020F0502020204030204" pitchFamily="34" charset="0"/>
                <a:cs typeface="Times New Roman" panose="02020603050405020304" pitchFamily="18" charset="0"/>
              </a:rPr>
              <a:t>scm</a:t>
            </a:r>
            <a:r>
              <a:rPr lang="es-MX" sz="1800" dirty="0">
                <a:effectLst/>
                <a:latin typeface="Arial" panose="020B0604020202020204" pitchFamily="34" charset="0"/>
                <a:ea typeface="Calibri" panose="020F0502020204030204" pitchFamily="34" charset="0"/>
                <a:cs typeface="Times New Roman" panose="02020603050405020304" pitchFamily="18" charset="0"/>
              </a:rPr>
              <a:t>” se redirigió al panel de control donde se puede acceder a la ruta indicada para subir los archivos del proyecto.</a:t>
            </a: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s-MX" sz="1800" dirty="0">
                <a:effectLst/>
                <a:latin typeface="Calibri" panose="020F0502020204030204" pitchFamily="34" charset="0"/>
                <a:ea typeface="Calibri" panose="020F0502020204030204" pitchFamily="34" charset="0"/>
                <a:cs typeface="Times New Roman" panose="02020603050405020304" pitchFamily="18" charset="0"/>
              </a:rPr>
              <a:t>11. </a:t>
            </a:r>
            <a:r>
              <a:rPr lang="es-MX" sz="1800" dirty="0">
                <a:effectLst/>
                <a:latin typeface="Arial" panose="020B0604020202020204" pitchFamily="34" charset="0"/>
                <a:ea typeface="Calibri" panose="020F0502020204030204" pitchFamily="34" charset="0"/>
                <a:cs typeface="Times New Roman" panose="02020603050405020304" pitchFamily="18" charset="0"/>
              </a:rPr>
              <a:t>Dentro de este panel se utilizó la siguiente ruta:</a:t>
            </a:r>
            <a:r>
              <a:rPr lang="es-MX" dirty="0">
                <a:latin typeface="Arial" panose="020B0604020202020204" pitchFamily="34" charset="0"/>
                <a:ea typeface="Calibri" panose="020F0502020204030204" pitchFamily="34" charset="0"/>
                <a:cs typeface="Times New Roman" panose="02020603050405020304" pitchFamily="18" charset="0"/>
              </a:rPr>
              <a:t> home/site/</a:t>
            </a:r>
            <a:r>
              <a:rPr lang="es-MX" dirty="0" err="1">
                <a:latin typeface="Arial" panose="020B0604020202020204" pitchFamily="34" charset="0"/>
                <a:ea typeface="Calibri" panose="020F0502020204030204" pitchFamily="34" charset="0"/>
                <a:cs typeface="Times New Roman" panose="02020603050405020304" pitchFamily="18" charset="0"/>
              </a:rPr>
              <a:t>wwwroot</a:t>
            </a:r>
            <a:r>
              <a:rPr lang="es-MX" dirty="0">
                <a:latin typeface="Arial" panose="020B0604020202020204" pitchFamily="34" charset="0"/>
                <a:ea typeface="Calibri" panose="020F0502020204030204" pitchFamily="34" charset="0"/>
                <a:cs typeface="Times New Roman" panose="02020603050405020304" pitchFamily="18" charset="0"/>
              </a:rPr>
              <a:t> y </a:t>
            </a:r>
            <a:r>
              <a:rPr lang="es-MX" sz="1800" dirty="0">
                <a:effectLst/>
                <a:latin typeface="Arial" panose="020B0604020202020204" pitchFamily="34" charset="0"/>
                <a:ea typeface="Calibri" panose="020F0502020204030204" pitchFamily="34" charset="0"/>
              </a:rPr>
              <a:t> se prosiguió a subir la carpeta comprimida que contiene los archivos de la aplicación web.</a:t>
            </a: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lvl="0" algn="just">
              <a:lnSpc>
                <a:spcPct val="150000"/>
              </a:lnSpc>
              <a:spcAft>
                <a:spcPts val="800"/>
              </a:spcAft>
            </a:pP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defTabSz="914400" rtl="0" eaLnBrk="1" fontAlgn="auto" latinLnBrk="0" hangingPunct="1">
              <a:lnSpc>
                <a:spcPct val="150000"/>
              </a:lnSpc>
              <a:spcBef>
                <a:spcPts val="0"/>
              </a:spcBef>
              <a:spcAft>
                <a:spcPts val="800"/>
              </a:spcAft>
              <a:buClrTx/>
              <a:buSzTx/>
              <a:tabLst/>
              <a:defRPr/>
            </a:pPr>
            <a:endPar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p:txBody>
      </p:sp>
      <p:pic>
        <p:nvPicPr>
          <p:cNvPr id="5" name="Imagen 4">
            <a:extLst>
              <a:ext uri="{FF2B5EF4-FFF2-40B4-BE49-F238E27FC236}">
                <a16:creationId xmlns:a16="http://schemas.microsoft.com/office/drawing/2014/main" id="{4B1A382E-CA8B-4B76-B386-5ECDC8757702}"/>
              </a:ext>
            </a:extLst>
          </p:cNvPr>
          <p:cNvPicPr/>
          <p:nvPr/>
        </p:nvPicPr>
        <p:blipFill rotWithShape="1">
          <a:blip r:embed="rId2"/>
          <a:srcRect b="24855"/>
          <a:stretch/>
        </p:blipFill>
        <p:spPr bwMode="auto">
          <a:xfrm>
            <a:off x="6294392" y="739140"/>
            <a:ext cx="5612130" cy="2370455"/>
          </a:xfrm>
          <a:prstGeom prst="rect">
            <a:avLst/>
          </a:prstGeom>
          <a:ln>
            <a:noFill/>
          </a:ln>
          <a:extLst>
            <a:ext uri="{53640926-AAD7-44D8-BBD7-CCE9431645EC}">
              <a14:shadowObscured xmlns:a14="http://schemas.microsoft.com/office/drawing/2010/main"/>
            </a:ext>
          </a:extLst>
        </p:spPr>
      </p:pic>
      <p:pic>
        <p:nvPicPr>
          <p:cNvPr id="6" name="Imagen 5">
            <a:extLst>
              <a:ext uri="{FF2B5EF4-FFF2-40B4-BE49-F238E27FC236}">
                <a16:creationId xmlns:a16="http://schemas.microsoft.com/office/drawing/2014/main" id="{50B04C2A-94B0-4D7B-A0FE-CA6E14F84479}"/>
              </a:ext>
            </a:extLst>
          </p:cNvPr>
          <p:cNvPicPr/>
          <p:nvPr/>
        </p:nvPicPr>
        <p:blipFill>
          <a:blip r:embed="rId3"/>
          <a:stretch>
            <a:fillRect/>
          </a:stretch>
        </p:blipFill>
        <p:spPr>
          <a:xfrm>
            <a:off x="6096000" y="3748405"/>
            <a:ext cx="5612130" cy="2607945"/>
          </a:xfrm>
          <a:prstGeom prst="rect">
            <a:avLst/>
          </a:prstGeom>
        </p:spPr>
      </p:pic>
    </p:spTree>
    <p:extLst>
      <p:ext uri="{BB962C8B-B14F-4D97-AF65-F5344CB8AC3E}">
        <p14:creationId xmlns:p14="http://schemas.microsoft.com/office/powerpoint/2010/main" val="37179798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arcador de número de diapositiva 7">
            <a:extLst>
              <a:ext uri="{FF2B5EF4-FFF2-40B4-BE49-F238E27FC236}">
                <a16:creationId xmlns:a16="http://schemas.microsoft.com/office/drawing/2014/main" id="{197D1D81-AAD6-4B14-AFF4-9DFBDE37F824}"/>
              </a:ext>
            </a:extLst>
          </p:cNvPr>
          <p:cNvSpPr>
            <a:spLocks noGrp="1"/>
          </p:cNvSpPr>
          <p:nvPr>
            <p:ph type="sldNum" sz="quarter" idx="12"/>
          </p:nvPr>
        </p:nvSpPr>
        <p:spPr/>
        <p:txBody>
          <a:bodyPr/>
          <a:lstStyle/>
          <a:p>
            <a:fld id="{90A5DFEB-E07E-4B57-AD4A-E6E5A3B83734}" type="slidenum">
              <a:rPr lang="es-MX" smtClean="0"/>
              <a:t>20</a:t>
            </a:fld>
            <a:endParaRPr lang="es-MX"/>
          </a:p>
        </p:txBody>
      </p:sp>
      <p:sp>
        <p:nvSpPr>
          <p:cNvPr id="9" name="CuadroTexto 8">
            <a:extLst>
              <a:ext uri="{FF2B5EF4-FFF2-40B4-BE49-F238E27FC236}">
                <a16:creationId xmlns:a16="http://schemas.microsoft.com/office/drawing/2014/main" id="{6D01E51C-8E4B-4736-A160-4F62493D3029}"/>
              </a:ext>
            </a:extLst>
          </p:cNvPr>
          <p:cNvSpPr txBox="1"/>
          <p:nvPr/>
        </p:nvSpPr>
        <p:spPr>
          <a:xfrm>
            <a:off x="971461" y="760091"/>
            <a:ext cx="10249078" cy="4765407"/>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800"/>
              </a:spcAft>
              <a:buClrTx/>
              <a:buSzTx/>
              <a:buFontTx/>
              <a:buNone/>
              <a:tabLst/>
              <a:defRPr/>
            </a:pPr>
            <a:r>
              <a:rPr lang="es-MX" sz="1600" b="1" dirty="0">
                <a:solidFill>
                  <a:prstClr val="black"/>
                </a:solidFill>
                <a:latin typeface="Arial" panose="020B0604020202020204" pitchFamily="34" charset="0"/>
                <a:ea typeface="Aptos" panose="020B0004020202020204" pitchFamily="34" charset="0"/>
                <a:cs typeface="Arial" panose="020B0604020202020204" pitchFamily="34" charset="0"/>
              </a:rPr>
              <a:t>Despliegue en Azure</a:t>
            </a: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endParaRPr>
          </a:p>
          <a:p>
            <a:pPr lvl="0" algn="just">
              <a:lnSpc>
                <a:spcPct val="150000"/>
              </a:lnSpc>
              <a:spcAft>
                <a:spcPts val="800"/>
              </a:spcAft>
            </a:pPr>
            <a:r>
              <a:rPr lang="es-MX" sz="1800" dirty="0">
                <a:effectLst/>
                <a:latin typeface="Arial" panose="020B0604020202020204" pitchFamily="34" charset="0"/>
                <a:ea typeface="Calibri" panose="020F0502020204030204" pitchFamily="34" charset="0"/>
                <a:cs typeface="Times New Roman" panose="02020603050405020304" pitchFamily="18" charset="0"/>
              </a:rPr>
              <a:t>12. También se realizaron algunos ajustes dentro del App </a:t>
            </a:r>
            <a:r>
              <a:rPr lang="es-MX" sz="1800" dirty="0" err="1">
                <a:effectLst/>
                <a:latin typeface="Arial" panose="020B0604020202020204" pitchFamily="34" charset="0"/>
                <a:ea typeface="Calibri" panose="020F0502020204030204" pitchFamily="34" charset="0"/>
                <a:cs typeface="Times New Roman" panose="02020603050405020304" pitchFamily="18" charset="0"/>
              </a:rPr>
              <a:t>Service</a:t>
            </a:r>
            <a:r>
              <a:rPr lang="es-MX" sz="1800" dirty="0">
                <a:effectLst/>
                <a:latin typeface="Arial" panose="020B0604020202020204" pitchFamily="34" charset="0"/>
                <a:ea typeface="Calibri" panose="020F0502020204030204" pitchFamily="34" charset="0"/>
                <a:cs typeface="Times New Roman" panose="02020603050405020304" pitchFamily="18" charset="0"/>
              </a:rPr>
              <a:t>, estos cambios se implementaron en la configuración general.</a:t>
            </a:r>
          </a:p>
          <a:p>
            <a:pPr lvl="0" algn="just">
              <a:lnSpc>
                <a:spcPct val="150000"/>
              </a:lnSpc>
              <a:spcAft>
                <a:spcPts val="800"/>
              </a:spcAft>
            </a:pPr>
            <a:r>
              <a:rPr lang="es-MX" sz="1800" dirty="0">
                <a:effectLst/>
                <a:latin typeface="Arial" panose="020B0604020202020204" pitchFamily="34" charset="0"/>
                <a:ea typeface="Calibri" panose="020F0502020204030204" pitchFamily="34" charset="0"/>
                <a:cs typeface="Times New Roman" panose="02020603050405020304" pitchFamily="18" charset="0"/>
              </a:rPr>
              <a:t>13.En “configuración en la pila”, se modificó el comando de inicio para que Azure sepa cómo mostrar las pantallas de Angular. Aquí se indica que se está ejecutando un servidor web estático, el cual redirige la petición al archivo principal index.html para que Angular muestre la vista correcta.</a:t>
            </a:r>
          </a:p>
          <a:p>
            <a:pPr lvl="0" algn="just">
              <a:lnSpc>
                <a:spcPct val="150000"/>
              </a:lnSpc>
              <a:spcAft>
                <a:spcPts val="800"/>
              </a:spcAft>
            </a:pPr>
            <a:r>
              <a:rPr lang="es-MX" sz="1800" dirty="0">
                <a:effectLst/>
                <a:latin typeface="Arial" panose="020B0604020202020204" pitchFamily="34" charset="0"/>
                <a:ea typeface="Calibri" panose="020F0502020204030204" pitchFamily="34" charset="0"/>
                <a:cs typeface="Times New Roman" panose="02020603050405020304" pitchFamily="18" charset="0"/>
              </a:rPr>
              <a:t>Además, también se especificó el puerto a utilizar.</a:t>
            </a:r>
          </a:p>
          <a:p>
            <a:pPr lvl="0" algn="just">
              <a:lnSpc>
                <a:spcPct val="150000"/>
              </a:lnSpc>
              <a:spcAft>
                <a:spcPts val="800"/>
              </a:spcAft>
            </a:pP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lvl="0" algn="just">
              <a:lnSpc>
                <a:spcPct val="150000"/>
              </a:lnSpc>
              <a:spcAft>
                <a:spcPts val="800"/>
              </a:spcAft>
            </a:pP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defTabSz="914400" rtl="0" eaLnBrk="1" fontAlgn="auto" latinLnBrk="0" hangingPunct="1">
              <a:lnSpc>
                <a:spcPct val="150000"/>
              </a:lnSpc>
              <a:spcBef>
                <a:spcPts val="0"/>
              </a:spcBef>
              <a:spcAft>
                <a:spcPts val="800"/>
              </a:spcAft>
              <a:buClrTx/>
              <a:buSzTx/>
              <a:tabLst/>
              <a:defRPr/>
            </a:pPr>
            <a:endPar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p:txBody>
      </p:sp>
      <p:pic>
        <p:nvPicPr>
          <p:cNvPr id="10" name="Imagen 9">
            <a:extLst>
              <a:ext uri="{FF2B5EF4-FFF2-40B4-BE49-F238E27FC236}">
                <a16:creationId xmlns:a16="http://schemas.microsoft.com/office/drawing/2014/main" id="{AC57E5D0-2021-421C-A38C-2D90760DB771}"/>
              </a:ext>
            </a:extLst>
          </p:cNvPr>
          <p:cNvPicPr/>
          <p:nvPr/>
        </p:nvPicPr>
        <p:blipFill rotWithShape="1">
          <a:blip r:embed="rId2"/>
          <a:srcRect t="15501" b="4622"/>
          <a:stretch/>
        </p:blipFill>
        <p:spPr bwMode="auto">
          <a:xfrm>
            <a:off x="4055747" y="4019232"/>
            <a:ext cx="5610860" cy="251968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9061887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arcador de número de diapositiva 7">
            <a:extLst>
              <a:ext uri="{FF2B5EF4-FFF2-40B4-BE49-F238E27FC236}">
                <a16:creationId xmlns:a16="http://schemas.microsoft.com/office/drawing/2014/main" id="{197D1D81-AAD6-4B14-AFF4-9DFBDE37F824}"/>
              </a:ext>
            </a:extLst>
          </p:cNvPr>
          <p:cNvSpPr>
            <a:spLocks noGrp="1"/>
          </p:cNvSpPr>
          <p:nvPr>
            <p:ph type="sldNum" sz="quarter" idx="12"/>
          </p:nvPr>
        </p:nvSpPr>
        <p:spPr/>
        <p:txBody>
          <a:bodyPr/>
          <a:lstStyle/>
          <a:p>
            <a:fld id="{90A5DFEB-E07E-4B57-AD4A-E6E5A3B83734}" type="slidenum">
              <a:rPr lang="es-MX" smtClean="0"/>
              <a:t>21</a:t>
            </a:fld>
            <a:endParaRPr lang="es-MX"/>
          </a:p>
        </p:txBody>
      </p:sp>
      <p:sp>
        <p:nvSpPr>
          <p:cNvPr id="9" name="CuadroTexto 8">
            <a:extLst>
              <a:ext uri="{FF2B5EF4-FFF2-40B4-BE49-F238E27FC236}">
                <a16:creationId xmlns:a16="http://schemas.microsoft.com/office/drawing/2014/main" id="{6D01E51C-8E4B-4736-A160-4F62493D3029}"/>
              </a:ext>
            </a:extLst>
          </p:cNvPr>
          <p:cNvSpPr txBox="1"/>
          <p:nvPr/>
        </p:nvSpPr>
        <p:spPr>
          <a:xfrm>
            <a:off x="1914889" y="910648"/>
            <a:ext cx="9010739" cy="4247317"/>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800"/>
              </a:spcAft>
              <a:buClrTx/>
              <a:buSzTx/>
              <a:buFontTx/>
              <a:buNone/>
              <a:tabLst/>
              <a:defRPr/>
            </a:pPr>
            <a:r>
              <a:rPr lang="es-MX" sz="1600" b="1" dirty="0">
                <a:solidFill>
                  <a:prstClr val="black"/>
                </a:solidFill>
                <a:latin typeface="Arial" panose="020B0604020202020204" pitchFamily="34" charset="0"/>
                <a:ea typeface="Aptos" panose="020B0004020202020204" pitchFamily="34" charset="0"/>
                <a:cs typeface="Arial" panose="020B0604020202020204" pitchFamily="34" charset="0"/>
              </a:rPr>
              <a:t>Despliegue en Azure</a:t>
            </a: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endParaRPr>
          </a:p>
          <a:p>
            <a:pPr algn="just">
              <a:lnSpc>
                <a:spcPct val="150000"/>
              </a:lnSpc>
              <a:spcAft>
                <a:spcPts val="800"/>
              </a:spcAft>
            </a:pPr>
            <a:r>
              <a:rPr lang="es-MX" sz="1800" dirty="0">
                <a:effectLst/>
                <a:latin typeface="Arial" panose="020B0604020202020204" pitchFamily="34" charset="0"/>
                <a:ea typeface="Calibri" panose="020F0502020204030204" pitchFamily="34" charset="0"/>
                <a:cs typeface="Times New Roman" panose="02020603050405020304" pitchFamily="18" charset="0"/>
              </a:rPr>
              <a:t>14. </a:t>
            </a:r>
            <a:r>
              <a:rPr lang="es-MX" sz="1800" dirty="0" err="1">
                <a:effectLst/>
                <a:latin typeface="Arial" panose="020B0604020202020204" pitchFamily="34" charset="0"/>
                <a:ea typeface="Calibri" panose="020F0502020204030204" pitchFamily="34" charset="0"/>
                <a:cs typeface="Times New Roman" panose="02020603050405020304" pitchFamily="18" charset="0"/>
              </a:rPr>
              <a:t>Supabase</a:t>
            </a:r>
            <a:r>
              <a:rPr lang="es-MX" sz="1800" dirty="0">
                <a:effectLst/>
                <a:latin typeface="Arial" panose="020B0604020202020204" pitchFamily="34" charset="0"/>
                <a:ea typeface="Calibri" panose="020F0502020204030204" pitchFamily="34" charset="0"/>
                <a:cs typeface="Times New Roman" panose="02020603050405020304" pitchFamily="18" charset="0"/>
              </a:rPr>
              <a:t> estaba correctamente conectado a la aplicación a través de la URL y </a:t>
            </a:r>
            <a:r>
              <a:rPr lang="es-MX" sz="1800" dirty="0" err="1">
                <a:effectLst/>
                <a:latin typeface="Arial" panose="020B0604020202020204" pitchFamily="34" charset="0"/>
                <a:ea typeface="Calibri" panose="020F0502020204030204" pitchFamily="34" charset="0"/>
                <a:cs typeface="Times New Roman" panose="02020603050405020304" pitchFamily="18" charset="0"/>
              </a:rPr>
              <a:t>Anon</a:t>
            </a:r>
            <a:r>
              <a:rPr lang="es-MX" sz="1800" dirty="0">
                <a:effectLst/>
                <a:latin typeface="Arial" panose="020B0604020202020204" pitchFamily="34" charset="0"/>
                <a:ea typeface="Calibri" panose="020F0502020204030204" pitchFamily="34" charset="0"/>
                <a:cs typeface="Times New Roman" panose="02020603050405020304" pitchFamily="18" charset="0"/>
              </a:rPr>
              <a:t> Key, por lo tanto, dentro de esta plataforma no se realizó ninguna modificación; esto quiere decir que utilizando el enlace generado ya se puede acceder a la página correspondiente.</a:t>
            </a: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lvl="0" algn="just">
              <a:lnSpc>
                <a:spcPct val="150000"/>
              </a:lnSpc>
              <a:spcAft>
                <a:spcPts val="800"/>
              </a:spcAft>
            </a:pPr>
            <a:endParaRPr lang="es-MX" sz="1800" dirty="0">
              <a:effectLst/>
              <a:latin typeface="Arial" panose="020B0604020202020204" pitchFamily="34" charset="0"/>
              <a:ea typeface="Calibri" panose="020F0502020204030204" pitchFamily="34" charset="0"/>
              <a:cs typeface="Times New Roman" panose="02020603050405020304" pitchFamily="18" charset="0"/>
            </a:endParaRPr>
          </a:p>
          <a:p>
            <a:pPr lvl="0" algn="just">
              <a:lnSpc>
                <a:spcPct val="150000"/>
              </a:lnSpc>
              <a:spcAft>
                <a:spcPts val="800"/>
              </a:spcAft>
            </a:pP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lvl="0" algn="just">
              <a:lnSpc>
                <a:spcPct val="150000"/>
              </a:lnSpc>
              <a:spcAft>
                <a:spcPts val="800"/>
              </a:spcAft>
            </a:pP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defTabSz="914400" rtl="0" eaLnBrk="1" fontAlgn="auto" latinLnBrk="0" hangingPunct="1">
              <a:lnSpc>
                <a:spcPct val="150000"/>
              </a:lnSpc>
              <a:spcBef>
                <a:spcPts val="0"/>
              </a:spcBef>
              <a:spcAft>
                <a:spcPts val="800"/>
              </a:spcAft>
              <a:buClrTx/>
              <a:buSzTx/>
              <a:tabLst/>
              <a:defRPr/>
            </a:pPr>
            <a:endPar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p:txBody>
      </p:sp>
      <p:pic>
        <p:nvPicPr>
          <p:cNvPr id="5" name="Imagen 4">
            <a:extLst>
              <a:ext uri="{FF2B5EF4-FFF2-40B4-BE49-F238E27FC236}">
                <a16:creationId xmlns:a16="http://schemas.microsoft.com/office/drawing/2014/main" id="{4DF4B2BD-214D-4CA7-9212-EF44F6B95237}"/>
              </a:ext>
            </a:extLst>
          </p:cNvPr>
          <p:cNvPicPr/>
          <p:nvPr/>
        </p:nvPicPr>
        <p:blipFill rotWithShape="1">
          <a:blip r:embed="rId2"/>
          <a:srcRect b="72532"/>
          <a:stretch/>
        </p:blipFill>
        <p:spPr bwMode="auto">
          <a:xfrm>
            <a:off x="3083106" y="3561986"/>
            <a:ext cx="6899094" cy="1595979"/>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5751752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arcador de número de diapositiva 7">
            <a:extLst>
              <a:ext uri="{FF2B5EF4-FFF2-40B4-BE49-F238E27FC236}">
                <a16:creationId xmlns:a16="http://schemas.microsoft.com/office/drawing/2014/main" id="{197D1D81-AAD6-4B14-AFF4-9DFBDE37F824}"/>
              </a:ext>
            </a:extLst>
          </p:cNvPr>
          <p:cNvSpPr>
            <a:spLocks noGrp="1"/>
          </p:cNvSpPr>
          <p:nvPr>
            <p:ph type="sldNum" sz="quarter" idx="12"/>
          </p:nvPr>
        </p:nvSpPr>
        <p:spPr/>
        <p:txBody>
          <a:bodyPr/>
          <a:lstStyle/>
          <a:p>
            <a:fld id="{90A5DFEB-E07E-4B57-AD4A-E6E5A3B83734}" type="slidenum">
              <a:rPr lang="es-MX" smtClean="0"/>
              <a:t>22</a:t>
            </a:fld>
            <a:endParaRPr lang="es-MX"/>
          </a:p>
        </p:txBody>
      </p:sp>
      <p:sp>
        <p:nvSpPr>
          <p:cNvPr id="3" name="CuadroTexto 2">
            <a:extLst>
              <a:ext uri="{FF2B5EF4-FFF2-40B4-BE49-F238E27FC236}">
                <a16:creationId xmlns:a16="http://schemas.microsoft.com/office/drawing/2014/main" id="{57048350-3116-40C2-9397-36C0BF0F0EE8}"/>
              </a:ext>
            </a:extLst>
          </p:cNvPr>
          <p:cNvSpPr txBox="1"/>
          <p:nvPr/>
        </p:nvSpPr>
        <p:spPr>
          <a:xfrm>
            <a:off x="1690407" y="849742"/>
            <a:ext cx="8811185" cy="5858014"/>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lang="es-MX" b="1" dirty="0">
                <a:solidFill>
                  <a:prstClr val="black"/>
                </a:solidFill>
                <a:latin typeface="Arial" panose="020B0604020202020204" pitchFamily="34" charset="0"/>
                <a:cs typeface="Arial" panose="020B0604020202020204" pitchFamily="34" charset="0"/>
              </a:rPr>
              <a:t>Conclusión</a:t>
            </a:r>
            <a:endParaRPr kumimoji="0" lang="es-MX"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Terminar este proyecto demuestra la viabilidad de integrar tecnologías modernas para resolver problemáticas reales. El desarrollo de </a:t>
            </a:r>
            <a:r>
              <a:rPr kumimoji="0" lang="es-MX" sz="1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SolicitaTec</a:t>
            </a:r>
            <a:r>
              <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permitió aplicar de manera práctica conceptos analizados a lo largo de las asignaturas como el desarrollo </a:t>
            </a:r>
            <a:r>
              <a:rPr kumimoji="0" lang="es-MX" sz="1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frontend</a:t>
            </a:r>
            <a:r>
              <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con Angular, el diseño de bases de datos relacionales con </a:t>
            </a:r>
            <a:r>
              <a:rPr kumimoji="0" lang="es-MX" sz="1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backend</a:t>
            </a:r>
            <a:r>
              <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como servicios y el despliegue de aplicaciones con Microsoft Azure.</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 logró una aplicación funcional que conecta el flujo de solicitudes: desde la interfaz del a la bandeja de control del administrador para el cambio de estados del trámite. Los resultados presentados en este reporte son el alcance máximo que se pudo lograr y alcanzar durante el periodo de desarrollo de la asignatura, considerando el tiempo, la aplicación web queda completamente preparada para recibir mejoras continuas y solución de detalles lógicos.</a:t>
            </a:r>
            <a:endParaRPr kumimoji="0" lang="es-ES" sz="18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s-MX" sz="1800" b="1"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91707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E5F54803-36AB-42B2-925B-BCB3F3F0DC5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FAD80A-BD4B-4644-B5A4-99133F8C7605}" type="slidenum">
              <a:rPr kumimoji="0" lang="es-MX"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s-MX"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3" name="CuadroTexto 2">
            <a:extLst>
              <a:ext uri="{FF2B5EF4-FFF2-40B4-BE49-F238E27FC236}">
                <a16:creationId xmlns:a16="http://schemas.microsoft.com/office/drawing/2014/main" id="{CED9B3DC-05D8-4D96-B190-4A50865B4A34}"/>
              </a:ext>
            </a:extLst>
          </p:cNvPr>
          <p:cNvSpPr txBox="1"/>
          <p:nvPr/>
        </p:nvSpPr>
        <p:spPr>
          <a:xfrm>
            <a:off x="1690407" y="849742"/>
            <a:ext cx="8811185" cy="7104509"/>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s-MX"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Fuentes de información</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Vázquez Escobedo, C. (2026). Tópicos de Programación Web Instituto Tecnológico de Frontera Comalapa.</a:t>
            </a: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s-MX"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s-MX"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s-MX"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s-MX"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La presente práctica se llevó a cabo siguiendo las indicaciones del catedrático</a:t>
            </a:r>
            <a:r>
              <a:rPr kumimoji="0" lang="es-ES" sz="1800" b="0" i="0" u="none" strike="noStrike" kern="1200" cap="none" spc="0" normalizeH="0" baseline="0" noProof="0" dirty="0">
                <a:ln>
                  <a:noFill/>
                </a:ln>
                <a:solidFill>
                  <a:srgbClr val="000000"/>
                </a:solidFill>
                <a:effectLst/>
                <a:uLnTx/>
                <a:uFillTx/>
                <a:latin typeface="Arial" panose="020B0604020202020204" pitchFamily="34" charset="0"/>
                <a:ea typeface="Arial" panose="020B0604020202020204" pitchFamily="34" charset="0"/>
                <a:cs typeface="Arial" panose="020B0604020202020204" pitchFamily="34" charset="0"/>
              </a:rPr>
              <a:t> </a:t>
            </a:r>
            <a:r>
              <a:rPr kumimoji="0" lang="es-E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Francisco Javier Velázquez Mingo, además de utilizar l</a:t>
            </a:r>
            <a:r>
              <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os conocimientos adquiridos durante la asignatura Tópicos de Programación Web  impartida en el periodo enero-junio de 2026.</a:t>
            </a:r>
            <a:endParaRPr kumimoji="0" lang="es-E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s-MX" sz="1800" b="1"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954863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E5F54803-36AB-42B2-925B-BCB3F3F0DC5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FAD80A-BD4B-4644-B5A4-99133F8C7605}" type="slidenum">
              <a:rPr kumimoji="0" lang="es-MX"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s-MX"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3" name="CuadroTexto 2">
            <a:extLst>
              <a:ext uri="{FF2B5EF4-FFF2-40B4-BE49-F238E27FC236}">
                <a16:creationId xmlns:a16="http://schemas.microsoft.com/office/drawing/2014/main" id="{CED9B3DC-05D8-4D96-B190-4A50865B4A34}"/>
              </a:ext>
            </a:extLst>
          </p:cNvPr>
          <p:cNvSpPr txBox="1"/>
          <p:nvPr/>
        </p:nvSpPr>
        <p:spPr>
          <a:xfrm>
            <a:off x="1690407" y="887842"/>
            <a:ext cx="8811185" cy="2949525"/>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lang="es-ES">
                <a:solidFill>
                  <a:prstClr val="black"/>
                </a:solidFill>
                <a:latin typeface="Arial" panose="020B0604020202020204" pitchFamily="34" charset="0"/>
                <a:ea typeface="Aptos" panose="020B0004020202020204" pitchFamily="34" charset="0"/>
                <a:cs typeface="Arial" panose="020B0604020202020204" pitchFamily="34" charset="0"/>
              </a:rPr>
              <a:t>Anexo enlace a Git: https://github.com/yoselinescobedolopez/PW-Tema-5.git</a:t>
            </a:r>
            <a:endParaRPr kumimoji="0" lang="es-ES" sz="18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s-MX" sz="1800" b="1"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508087133"/>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446</TotalTime>
  <Words>1563</Words>
  <Application>Microsoft Office PowerPoint</Application>
  <PresentationFormat>Panorámica</PresentationFormat>
  <Paragraphs>148</Paragraphs>
  <Slides>24</Slides>
  <Notes>0</Notes>
  <HiddenSlides>0</HiddenSlides>
  <MMClips>0</MMClips>
  <ScaleCrop>false</ScaleCrop>
  <HeadingPairs>
    <vt:vector size="6" baseType="variant">
      <vt:variant>
        <vt:lpstr>Fuentes usadas</vt:lpstr>
      </vt:variant>
      <vt:variant>
        <vt:i4>3</vt:i4>
      </vt:variant>
      <vt:variant>
        <vt:lpstr>Tema</vt:lpstr>
      </vt:variant>
      <vt:variant>
        <vt:i4>2</vt:i4>
      </vt:variant>
      <vt:variant>
        <vt:lpstr>Títulos de diapositiva</vt:lpstr>
      </vt:variant>
      <vt:variant>
        <vt:i4>24</vt:i4>
      </vt:variant>
    </vt:vector>
  </HeadingPairs>
  <TitlesOfParts>
    <vt:vector size="29" baseType="lpstr">
      <vt:lpstr>Arial</vt:lpstr>
      <vt:lpstr>Calibri</vt:lpstr>
      <vt:lpstr>Calibri Light</vt:lpstr>
      <vt:lpstr>Tema de Office</vt:lpstr>
      <vt:lpstr>1_Tema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Gleysi Yoselin Escobedo López</dc:creator>
  <cp:lastModifiedBy>Gleysi Yoselin Escobedo López</cp:lastModifiedBy>
  <cp:revision>31</cp:revision>
  <dcterms:created xsi:type="dcterms:W3CDTF">2026-06-12T07:29:57Z</dcterms:created>
  <dcterms:modified xsi:type="dcterms:W3CDTF">2026-06-15T07:05:52Z</dcterms:modified>
</cp:coreProperties>
</file>